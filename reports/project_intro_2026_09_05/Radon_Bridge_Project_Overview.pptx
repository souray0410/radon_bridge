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ee344bda88481a" /><Relationship Type="http://schemas.openxmlformats.org/officeDocument/2006/relationships/extended-properties" Target="/docProps/app.xml" Id="R5916335a51634703" /><Relationship Type="http://schemas.openxmlformats.org/officeDocument/2006/relationships/officeDocument" Target="/ppt/presentation.xml" Id="Re0d75d02529c47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9a3783669140dc"/>
  </p:sldMasterIdLst>
  <p:notesMasterIdLst>
    <p:notesMasterId xmlns:r="http://schemas.openxmlformats.org/officeDocument/2006/relationships" r:id="Rd5896ec3d755402e"/>
  </p:notesMasterIdLst>
  <p:sldIdLst>
    <p:sldId xmlns:r="http://schemas.openxmlformats.org/officeDocument/2006/relationships" id="256" r:id="Ree60bf03f7c747c4"/>
    <p:sldId xmlns:r="http://schemas.openxmlformats.org/officeDocument/2006/relationships" id="257" r:id="Rbe0961bb25a04199"/>
    <p:sldId xmlns:r="http://schemas.openxmlformats.org/officeDocument/2006/relationships" id="258" r:id="Rcad22126caa840be"/>
    <p:sldId xmlns:r="http://schemas.openxmlformats.org/officeDocument/2006/relationships" id="259" r:id="R9dc15a56fe57467d"/>
    <p:sldId xmlns:r="http://schemas.openxmlformats.org/officeDocument/2006/relationships" id="260" r:id="Re8baaff92cdc4668"/>
    <p:sldId xmlns:r="http://schemas.openxmlformats.org/officeDocument/2006/relationships" id="261" r:id="Rcf5b9a7d34db48fa"/>
    <p:sldId xmlns:r="http://schemas.openxmlformats.org/officeDocument/2006/relationships" id="262" r:id="R852e5342e8254935"/>
    <p:sldId xmlns:r="http://schemas.openxmlformats.org/officeDocument/2006/relationships" id="263" r:id="Rdf9e731da1804c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2cfccff81649dd" /><Relationship Type="http://schemas.openxmlformats.org/officeDocument/2006/relationships/slideMaster" Target="/ppt/slideMasters/slideMaster1.xml" Id="R4a9a3783669140dc" /><Relationship Type="http://schemas.openxmlformats.org/officeDocument/2006/relationships/notesMaster" Target="/ppt/notesMasters/notesMaster1.xml" Id="Rd5896ec3d755402e" /><Relationship Type="http://schemas.openxmlformats.org/officeDocument/2006/relationships/presProps" Target="/ppt/presProps.xml" Id="R7322defaf35642cb" /><Relationship Type="http://schemas.openxmlformats.org/officeDocument/2006/relationships/tableStyles" Target="/ppt/tableStyles.xml" Id="R8991596b7d274d78" /><Relationship Type="http://schemas.openxmlformats.org/officeDocument/2006/relationships/slide" Target="/ppt/slides/slide1.xml" Id="Ree60bf03f7c747c4" /><Relationship Type="http://schemas.openxmlformats.org/officeDocument/2006/relationships/slide" Target="/ppt/slides/slide2.xml" Id="Rbe0961bb25a04199" /><Relationship Type="http://schemas.openxmlformats.org/officeDocument/2006/relationships/slide" Target="/ppt/slides/slide3.xml" Id="Rcad22126caa840be" /><Relationship Type="http://schemas.openxmlformats.org/officeDocument/2006/relationships/slide" Target="/ppt/slides/slide4.xml" Id="R9dc15a56fe57467d" /><Relationship Type="http://schemas.openxmlformats.org/officeDocument/2006/relationships/slide" Target="/ppt/slides/slide5.xml" Id="Re8baaff92cdc4668" /><Relationship Type="http://schemas.openxmlformats.org/officeDocument/2006/relationships/slide" Target="/ppt/slides/slide6.xml" Id="Rcf5b9a7d34db48fa" /><Relationship Type="http://schemas.openxmlformats.org/officeDocument/2006/relationships/slide" Target="/ppt/slides/slide7.xml" Id="R852e5342e8254935" /><Relationship Type="http://schemas.openxmlformats.org/officeDocument/2006/relationships/slide" Target="/ppt/slides/slide8.xml" Id="Rdf9e731da1804c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e0feea685a49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860c536b4b4807" /><Relationship Type="http://schemas.openxmlformats.org/officeDocument/2006/relationships/notesMaster" Target="/ppt/notesMasters/notesMaster1.xml" Id="Rd6940cceb6e747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cfe80317fb40df" /><Relationship Type="http://schemas.openxmlformats.org/officeDocument/2006/relationships/notesMaster" Target="/ppt/notesMasters/notesMaster1.xml" Id="Rf3f9afe3694448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666dd27dcf4521" /><Relationship Type="http://schemas.openxmlformats.org/officeDocument/2006/relationships/notesMaster" Target="/ppt/notesMasters/notesMaster1.xml" Id="R5353304704b145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57d983162e4a6d" /><Relationship Type="http://schemas.openxmlformats.org/officeDocument/2006/relationships/notesMaster" Target="/ppt/notesMasters/notesMaster1.xml" Id="Rb64e5293840841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6847ab6487405e" /><Relationship Type="http://schemas.openxmlformats.org/officeDocument/2006/relationships/notesMaster" Target="/ppt/notesMasters/notesMaster1.xml" Id="Radd4c72e774248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c797b2f3e749d4" /><Relationship Type="http://schemas.openxmlformats.org/officeDocument/2006/relationships/notesMaster" Target="/ppt/notesMasters/notesMaster1.xml" Id="R681e7d5ea66b44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81c25c46274b4c" /><Relationship Type="http://schemas.openxmlformats.org/officeDocument/2006/relationships/notesMaster" Target="/ppt/notesMasters/notesMaster1.xml" Id="R9008142f3a6348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82a4fed3b44008" /><Relationship Type="http://schemas.openxmlformats.org/officeDocument/2006/relationships/notesMaster" Target="/ppt/notesMasters/notesMaster1.xml" Id="R92fe5d00e3e849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开场：我们研究如何把两个已经能够独立预测的影像网络连接起来，让它们交换有用信息。R&amp;B指Radon Bridge，核心是固定Radon几何、中间可学习线性通信、普通反投影和残差写回。当前受控任务是UKB配对CFP与OCT的同一青光眼标签。该页是结构示意，不是真实影像或实验数据。来源：项目协议、radonbridge/bridge.py与model.py，训练源码f850929及补充实现6ada3a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网络：两条完整ResNet18分别处理CFP二维图像和OCT三维体积。每人双眼，网络内部将眼维展平，所以stage3张量第一维是2B。CFP输入[B,2,3,224,224]，stage3为[2B,256,14,14]；OCT输入[B,2,1,32,96,96]，stage3为[2B,256,8,6,6]。两条分支保留自己的stage4、双眼池化、分类头、CE损失和预测。R&amp;B通过MHD V4在原Node ID上残差写回，两个方向都使用写回前的特征。为了读图，图中把stage1-2合并显示，代码中它们保持独立可见。来源：radonbridge/model.py、graph.py、bridge.py。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模块图展示固定通道版本：X先经Q转置降通道，在每个空间位置共享同一投影。固定EEM方向和Householder Radon将不同空间维度表示为方向×采样坐标。两来源分别得到[2B,r_i M_i,S]，沿通道拼接，通过kernel=3、无偏置、零初始化Conv1d，再分开。普通直接反投影后乘Q恢复通道，残差写回各自原MHD节点。Q与几何是持久化buffer，梯度可以经过固定算子；固定版本只有中间卷积可学习，原生网络仍全参数训练。桥内没有激活、门控或BN。图中蓝紫两行共享中间mixer，残差旁路的X保持本来源。来源：radonbridge/bridge.py、projector.py、svd_basi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降维是控制通信规模的实现因素，不是R&amp;B唯一核心。旧可学习CM投影在Radon以后压缩C×M；通道投影在Radon前压缩C，固定SVD/随机QR用Q转置及Q，可学习通道使用独立编码/恢复1×1线性卷积。中心化与非中心化SVD都是已有子空间对照，此介绍只突出固定非中心化主路径。固定通道r=max(1,floor(rho*C))，h=r*M。在C256、M32下，rho=1/16、1/8、1/4对应r16/32/64和h512/1024/2048。rho不是能量阈值。独立来源SVD不构成跨模态语义对齐。来源：bridge.py、learned_channel.py、svd_basis.py及qr_nested_supplement/PROTOCOL.zh-C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阶段分别监督训练CFP和OCT至平台，各自恢复开发集最佳检查点。第二阶段从这两个检查点加入桥，仍训练原来的两条网络，没有额外第三个特征提取网络。SVD只用这些父网络的训练集stage3特征拟合一次并复用，开发集不拟合基。数据1264训练、296开发，同一UKB记录导出的青光眼临床表型，双眼按参与者整体处理。当前主比较stage3/M32/S64，种子3416-3418，batch16，backbone6e-5，head/bridge1e-4。原规则至少8轮、6轮无&gt;0.001实质改善平台、3轮停滞LR乘0.3、60轮保护上限，未平台不视为完成。该介绍页省略优化细项，完整协议与最终报告保留。来源：experiment.py、convergence.py及已验收manifes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逻辑：自身处理保持自身块但屏蔽跨来源块，检验跨来源项是否重要。空间打乱与普通重采样检验Radon空间结构的额外贡献，普通重采样匹配卷积宽度和算子行范数，不能称几何或秩完全匹配。两个单向训练都保留自身块，分别删除一个跨来源方向。开发集关闭通信或打乱配对只改变跨来源消息，保持接收者特征和标签；20组无自配对置换，双眼按参与者移动。所有此类干预的结果都需要分支、种子和区间解释，不是临床因果证明。来源：mechanism_benchmark/PROTOCOL.zh-CN.md、communication_analysis.py及qr_nested_supplement/PROTOCOL.zh-C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至2026-09-05，原186项第二阶段结果及其队列分析已完成。它们由129项既有压缩和机制研究加57项机制/常用方法补充组成。57项包括45项QR普通通信与两基单向训练，及12项MMTM和交叉注意力适配。新A是18项QR自身/空间打乱；新B是9次三方法多宽度联合训练，每个模型评估三档rho得到27个视图。新增训练总27次。全部完成后213个训练配置、231个评估视图，不能把视图数写成独立训练数。页上将补充标为scheduled，表示已授权、排队及验收中的计划，不宣称它们完成。源：两个实时queue_status、manifest及已批准补充协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：研究主线是R&amp;B结构化跨来源通信。需要依次回答连接是否有用、Radon结构是否带来额外收益、解释是否跨基成立、共享宽度训练是否改善表示。所有性能和统计结论留在后续详细结果报告；本介绍不展示精选最佳分数。当前仍是历史参与过配置筛选的开发集探索性证据，同一UKB青光眼目标和ResNet18二维/三维模型，未来需要独立队列、其他任务/模型验证。不能把控制实验或漂亮图示当成完整NBE投稿或录用保证。来源：项目协议、实验接受清单和开发集数据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2618e46f0448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b4460fa17e40dc" /><Relationship Type="http://schemas.openxmlformats.org/officeDocument/2006/relationships/slideLayout" Target="/ppt/slideLayouts/slideLayout1.xml" Id="R392e4006ac224b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2e4006ac224b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b3d02793c4c1f" /><Relationship Type="http://schemas.openxmlformats.org/officeDocument/2006/relationships/notesSlide" Target="/ppt/notesSlides/notesSlide1.xml" Id="Re9eabd705fd345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7665f434b41e3" /><Relationship Type="http://schemas.openxmlformats.org/officeDocument/2006/relationships/notesSlide" Target="/ppt/notesSlides/notesSlide2.xml" Id="Rb618f02e865f4b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bf1e2323a4ccb" /><Relationship Type="http://schemas.openxmlformats.org/officeDocument/2006/relationships/notesSlide" Target="/ppt/notesSlides/notesSlide3.xml" Id="R71f14bd0571b41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ef19e3e1a4ee0" /><Relationship Type="http://schemas.openxmlformats.org/officeDocument/2006/relationships/notesSlide" Target="/ppt/notesSlides/notesSlide4.xml" Id="Rbc352c3079674a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e58285cfa4907" /><Relationship Type="http://schemas.openxmlformats.org/officeDocument/2006/relationships/notesSlide" Target="/ppt/notesSlides/notesSlide5.xml" Id="Ra0d1bc1d38c74b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6aeff25c7436b" /><Relationship Type="http://schemas.openxmlformats.org/officeDocument/2006/relationships/notesSlide" Target="/ppt/notesSlides/notesSlide6.xml" Id="R9a083533c3a04b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daee2f0644850" /><Relationship Type="http://schemas.openxmlformats.org/officeDocument/2006/relationships/notesSlide" Target="/ppt/notesSlides/notesSlide7.xml" Id="Rcee96d2a49694e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c095bce054c46" /><Relationship Type="http://schemas.openxmlformats.org/officeDocument/2006/relationships/notesSlide" Target="/ppt/notesSlides/notesSlide8.xml" Id="Rb81a0eee437e44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rb_obj_1">
            <a:extLst xmlns:a="http://schemas.openxmlformats.org/drawingml/2006/main">
              <a:ext uri="{FF2B5EF4-FFF2-40B4-BE49-F238E27FC236}">
                <a16:creationId xmlns:a16="http://schemas.microsoft.com/office/drawing/2014/main" id="{2450AEB4-1D21-49F9-B970-4C03DC65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R&amp;B: Radon Bridge</a:t>
            </a:r>
          </a:p>
        </p:txBody>
      </p:sp>
      <p:sp>
        <p:nvSpPr>
          <p:cNvPr id="2" name="rb_obj_2">
            <a:extLst xmlns:a="http://schemas.openxmlformats.org/drawingml/2006/main">
              <a:ext uri="{FF2B5EF4-FFF2-40B4-BE49-F238E27FC236}">
                <a16:creationId xmlns:a16="http://schemas.microsoft.com/office/drawing/2014/main" id="{1D297B70-311C-4B4A-B9E9-D7804531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099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Structured communication between pretrained 2D and 3D networks</a:t>
            </a:r>
          </a:p>
        </p:txBody>
      </p:sp>
      <p:sp>
        <p:nvSpPr>
          <p:cNvPr id="3" name="rb_obj_3">
            <a:extLst xmlns:a="http://schemas.openxmlformats.org/drawingml/2006/main">
              <a:ext uri="{FF2B5EF4-FFF2-40B4-BE49-F238E27FC236}">
                <a16:creationId xmlns:a16="http://schemas.microsoft.com/office/drawing/2014/main" id="{2F4F225B-C227-4D41-A8BD-239A55DD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</a:ln>
        </p:spPr>
      </p:sp>
      <p:sp>
        <p:nvSpPr>
          <p:cNvPr id="4" name="rb_obj_4">
            <a:extLst xmlns:a="http://schemas.openxmlformats.org/drawingml/2006/main">
              <a:ext uri="{FF2B5EF4-FFF2-40B4-BE49-F238E27FC236}">
                <a16:creationId xmlns:a16="http://schemas.microsoft.com/office/drawing/2014/main" id="{1C6DB6E9-E23A-495E-AD9B-2F129AE0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R&amp;B  Radon Bridge</a:t>
            </a:r>
          </a:p>
        </p:txBody>
      </p:sp>
      <p:sp>
        <p:nvSpPr>
          <p:cNvPr id="5" name="rb_obj_5">
            <a:extLst xmlns:a="http://schemas.openxmlformats.org/drawingml/2006/main">
              <a:ext uri="{FF2B5EF4-FFF2-40B4-BE49-F238E27FC236}">
                <a16:creationId xmlns:a16="http://schemas.microsoft.com/office/drawing/2014/main" id="{617BD78D-C0D3-4F4C-B6E7-DA21A666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01 / 08</a:t>
            </a:r>
          </a:p>
        </p:txBody>
      </p:sp>
      <p:sp>
        <p:nvSpPr>
          <p:cNvPr id="6" name="rb_obj_6">
            <a:extLst xmlns:a="http://schemas.openxmlformats.org/drawingml/2006/main">
              <a:ext uri="{FF2B5EF4-FFF2-40B4-BE49-F238E27FC236}">
                <a16:creationId xmlns:a16="http://schemas.microsoft.com/office/drawing/2014/main" id="{F49DD495-B003-4427-BDEB-E8111EA0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457450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E87"/>
            </a:solidFill>
          </a:ln>
        </p:spPr>
      </p:sp>
      <p:sp>
        <p:nvSpPr>
          <p:cNvPr id="7" name="rb_obj_7">
            <a:extLst xmlns:a="http://schemas.openxmlformats.org/drawingml/2006/main">
              <a:ext uri="{FF2B5EF4-FFF2-40B4-BE49-F238E27FC236}">
                <a16:creationId xmlns:a16="http://schemas.microsoft.com/office/drawing/2014/main" id="{6420F0A3-F5EC-4437-82D8-89E46B42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988" y="2457450"/>
            <a:ext cx="953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007E87"/>
            </a:solidFill>
          </a:ln>
        </p:spPr>
      </p:sp>
      <p:sp>
        <p:nvSpPr>
          <p:cNvPr id="8" name="rb_obj_8">
            <a:extLst xmlns:a="http://schemas.openxmlformats.org/drawingml/2006/main">
              <a:ext uri="{FF2B5EF4-FFF2-40B4-BE49-F238E27FC236}">
                <a16:creationId xmlns:a16="http://schemas.microsoft.com/office/drawing/2014/main" id="{4084715D-BE45-4BBA-B7F8-15A2D21C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767013"/>
            <a:ext cx="1619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007E87"/>
            </a:solidFill>
          </a:ln>
        </p:spPr>
      </p:sp>
      <p:sp>
        <p:nvSpPr>
          <p:cNvPr id="9" name="rb_obj_9">
            <a:extLst xmlns:a="http://schemas.openxmlformats.org/drawingml/2006/main">
              <a:ext uri="{FF2B5EF4-FFF2-40B4-BE49-F238E27FC236}">
                <a16:creationId xmlns:a16="http://schemas.microsoft.com/office/drawing/2014/main" id="{574F157F-1F25-433A-BA30-85A98329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57450"/>
            <a:ext cx="953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007E87"/>
            </a:solidFill>
          </a:ln>
        </p:spPr>
      </p:sp>
      <p:sp>
        <p:nvSpPr>
          <p:cNvPr id="10" name="rb_obj_10">
            <a:extLst xmlns:a="http://schemas.openxmlformats.org/drawingml/2006/main">
              <a:ext uri="{FF2B5EF4-FFF2-40B4-BE49-F238E27FC236}">
                <a16:creationId xmlns:a16="http://schemas.microsoft.com/office/drawing/2014/main" id="{BC446131-7103-46FC-9FDB-E6A899AE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076575"/>
            <a:ext cx="1619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007E87"/>
            </a:solidFill>
          </a:ln>
        </p:spPr>
      </p:sp>
      <p:sp>
        <p:nvSpPr>
          <p:cNvPr id="11" name="rb_obj_11">
            <a:extLst xmlns:a="http://schemas.openxmlformats.org/drawingml/2006/main">
              <a:ext uri="{FF2B5EF4-FFF2-40B4-BE49-F238E27FC236}">
                <a16:creationId xmlns:a16="http://schemas.microsoft.com/office/drawing/2014/main" id="{7531C91A-E9AA-482E-B590-50669405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2457450"/>
            <a:ext cx="953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007E87"/>
            </a:solidFill>
          </a:ln>
        </p:spPr>
      </p:sp>
      <p:sp>
        <p:nvSpPr>
          <p:cNvPr id="12" name="rb_obj_12">
            <a:extLst xmlns:a="http://schemas.openxmlformats.org/drawingml/2006/main">
              <a:ext uri="{FF2B5EF4-FFF2-40B4-BE49-F238E27FC236}">
                <a16:creationId xmlns:a16="http://schemas.microsoft.com/office/drawing/2014/main" id="{5DC43FCD-3B7B-4B1A-A66E-D205B21A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386138"/>
            <a:ext cx="1619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007E87"/>
            </a:solidFill>
          </a:ln>
        </p:spPr>
      </p:sp>
      <p:sp>
        <p:nvSpPr>
          <p:cNvPr id="13" name="rb_obj_13">
            <a:extLst xmlns:a="http://schemas.openxmlformats.org/drawingml/2006/main">
              <a:ext uri="{FF2B5EF4-FFF2-40B4-BE49-F238E27FC236}">
                <a16:creationId xmlns:a16="http://schemas.microsoft.com/office/drawing/2014/main" id="{FAF58813-AA8E-45D3-AF94-4E961857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2412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E87"/>
            </a:solidFill>
          </a:ln>
        </p:spPr>
      </p:sp>
      <p:sp>
        <p:nvSpPr>
          <p:cNvPr id="14" name="rb_obj_14">
            <a:extLst xmlns:a="http://schemas.openxmlformats.org/drawingml/2006/main">
              <a:ext uri="{FF2B5EF4-FFF2-40B4-BE49-F238E27FC236}">
                <a16:creationId xmlns:a16="http://schemas.microsoft.com/office/drawing/2014/main" id="{5F1B5E53-4BD7-41EA-836B-D98671EF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3" y="2524125"/>
            <a:ext cx="953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007E87"/>
            </a:solidFill>
          </a:ln>
        </p:spPr>
      </p:sp>
      <p:sp>
        <p:nvSpPr>
          <p:cNvPr id="15" name="rb_obj_15">
            <a:extLst xmlns:a="http://schemas.openxmlformats.org/drawingml/2006/main">
              <a:ext uri="{FF2B5EF4-FFF2-40B4-BE49-F238E27FC236}">
                <a16:creationId xmlns:a16="http://schemas.microsoft.com/office/drawing/2014/main" id="{6C182D2A-D538-496D-9D4A-5DAD813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3688"/>
            <a:ext cx="1619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007E87"/>
            </a:solidFill>
          </a:ln>
        </p:spPr>
      </p:sp>
      <p:sp>
        <p:nvSpPr>
          <p:cNvPr id="16" name="rb_obj_16">
            <a:extLst xmlns:a="http://schemas.openxmlformats.org/drawingml/2006/main">
              <a:ext uri="{FF2B5EF4-FFF2-40B4-BE49-F238E27FC236}">
                <a16:creationId xmlns:a16="http://schemas.microsoft.com/office/drawing/2014/main" id="{63C364B1-613B-458C-A8FA-FE78EF79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524125"/>
            <a:ext cx="953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007E87"/>
            </a:solidFill>
          </a:ln>
        </p:spPr>
      </p:sp>
      <p:sp>
        <p:nvSpPr>
          <p:cNvPr id="17" name="rb_obj_17">
            <a:extLst xmlns:a="http://schemas.openxmlformats.org/drawingml/2006/main">
              <a:ext uri="{FF2B5EF4-FFF2-40B4-BE49-F238E27FC236}">
                <a16:creationId xmlns:a16="http://schemas.microsoft.com/office/drawing/2014/main" id="{6F09BB2C-8415-472C-8BA9-7BF07EF3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1619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007E87"/>
            </a:solidFill>
          </a:ln>
        </p:spPr>
      </p:sp>
      <p:sp>
        <p:nvSpPr>
          <p:cNvPr id="18" name="rb_obj_18">
            <a:extLst xmlns:a="http://schemas.openxmlformats.org/drawingml/2006/main">
              <a:ext uri="{FF2B5EF4-FFF2-40B4-BE49-F238E27FC236}">
                <a16:creationId xmlns:a16="http://schemas.microsoft.com/office/drawing/2014/main" id="{D8E6CEDE-F7C9-49FF-BAB0-42E6943F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8888" y="2524125"/>
            <a:ext cx="953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007E87"/>
            </a:solidFill>
          </a:ln>
        </p:spPr>
      </p:sp>
      <p:sp>
        <p:nvSpPr>
          <p:cNvPr id="19" name="rb_obj_19">
            <a:extLst xmlns:a="http://schemas.openxmlformats.org/drawingml/2006/main">
              <a:ext uri="{FF2B5EF4-FFF2-40B4-BE49-F238E27FC236}">
                <a16:creationId xmlns:a16="http://schemas.microsoft.com/office/drawing/2014/main" id="{B2862E00-491E-4203-9B9E-7FDF57FC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52813"/>
            <a:ext cx="1619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007E87"/>
            </a:solidFill>
          </a:ln>
        </p:spPr>
      </p:sp>
      <p:sp>
        <p:nvSpPr>
          <p:cNvPr id="20" name="rb_obj_20">
            <a:extLst xmlns:a="http://schemas.openxmlformats.org/drawingml/2006/main">
              <a:ext uri="{FF2B5EF4-FFF2-40B4-BE49-F238E27FC236}">
                <a16:creationId xmlns:a16="http://schemas.microsoft.com/office/drawing/2014/main" id="{3EBA3463-605E-48DF-9FCD-9CBC49C7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24100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B5FA6"/>
            </a:solidFill>
          </a:ln>
        </p:spPr>
      </p:sp>
      <p:sp>
        <p:nvSpPr>
          <p:cNvPr id="21" name="rb_obj_21">
            <a:extLst xmlns:a="http://schemas.openxmlformats.org/drawingml/2006/main">
              <a:ext uri="{FF2B5EF4-FFF2-40B4-BE49-F238E27FC236}">
                <a16:creationId xmlns:a16="http://schemas.microsoft.com/office/drawing/2014/main" id="{50AB5554-90E9-44D3-B3F0-39202AD5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813" y="2324100"/>
            <a:ext cx="953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22" name="rb_obj_22">
            <a:extLst xmlns:a="http://schemas.openxmlformats.org/drawingml/2006/main">
              <a:ext uri="{FF2B5EF4-FFF2-40B4-BE49-F238E27FC236}">
                <a16:creationId xmlns:a16="http://schemas.microsoft.com/office/drawing/2014/main" id="{F8C04BCF-55D4-45E9-8458-A9702232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33663"/>
            <a:ext cx="1619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23" name="rb_obj_23">
            <a:extLst xmlns:a="http://schemas.openxmlformats.org/drawingml/2006/main">
              <a:ext uri="{FF2B5EF4-FFF2-40B4-BE49-F238E27FC236}">
                <a16:creationId xmlns:a16="http://schemas.microsoft.com/office/drawing/2014/main" id="{CCF7366A-9E2A-4D97-8C97-83E66F0D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24100"/>
            <a:ext cx="953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24" name="rb_obj_24">
            <a:extLst xmlns:a="http://schemas.openxmlformats.org/drawingml/2006/main">
              <a:ext uri="{FF2B5EF4-FFF2-40B4-BE49-F238E27FC236}">
                <a16:creationId xmlns:a16="http://schemas.microsoft.com/office/drawing/2014/main" id="{5D9A5DBC-261B-45C9-BFBF-5672062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43225"/>
            <a:ext cx="1619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25" name="rb_obj_25">
            <a:extLst xmlns:a="http://schemas.openxmlformats.org/drawingml/2006/main">
              <a:ext uri="{FF2B5EF4-FFF2-40B4-BE49-F238E27FC236}">
                <a16:creationId xmlns:a16="http://schemas.microsoft.com/office/drawing/2014/main" id="{D98E8EAA-DF19-48CB-B064-16B825DA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438" y="2324100"/>
            <a:ext cx="953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26" name="rb_obj_26">
            <a:extLst xmlns:a="http://schemas.openxmlformats.org/drawingml/2006/main">
              <a:ext uri="{FF2B5EF4-FFF2-40B4-BE49-F238E27FC236}">
                <a16:creationId xmlns:a16="http://schemas.microsoft.com/office/drawing/2014/main" id="{626FF415-5B38-4B83-A8A8-9238BD54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52788"/>
            <a:ext cx="1619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27" name="rb_obj_27">
            <a:extLst xmlns:a="http://schemas.openxmlformats.org/drawingml/2006/main">
              <a:ext uri="{FF2B5EF4-FFF2-40B4-BE49-F238E27FC236}">
                <a16:creationId xmlns:a16="http://schemas.microsoft.com/office/drawing/2014/main" id="{1C27A04B-8235-4F3C-9B44-CB921358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907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B5FA6"/>
            </a:solidFill>
          </a:ln>
        </p:spPr>
      </p:sp>
      <p:sp>
        <p:nvSpPr>
          <p:cNvPr id="28" name="rb_obj_28">
            <a:extLst xmlns:a="http://schemas.openxmlformats.org/drawingml/2006/main">
              <a:ext uri="{FF2B5EF4-FFF2-40B4-BE49-F238E27FC236}">
                <a16:creationId xmlns:a16="http://schemas.microsoft.com/office/drawing/2014/main" id="{1C89A02B-958A-4E8C-8451-D4B04598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088" y="2390775"/>
            <a:ext cx="953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29" name="rb_obj_29">
            <a:extLst xmlns:a="http://schemas.openxmlformats.org/drawingml/2006/main">
              <a:ext uri="{FF2B5EF4-FFF2-40B4-BE49-F238E27FC236}">
                <a16:creationId xmlns:a16="http://schemas.microsoft.com/office/drawing/2014/main" id="{50636CB0-A9B9-45B8-9A35-C80E7826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700338"/>
            <a:ext cx="1619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30" name="rb_obj_30">
            <a:extLst xmlns:a="http://schemas.openxmlformats.org/drawingml/2006/main">
              <a:ext uri="{FF2B5EF4-FFF2-40B4-BE49-F238E27FC236}">
                <a16:creationId xmlns:a16="http://schemas.microsoft.com/office/drawing/2014/main" id="{556302A1-EC37-4355-95E7-3E11D16C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90775"/>
            <a:ext cx="953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31" name="rb_obj_31">
            <a:extLst xmlns:a="http://schemas.openxmlformats.org/drawingml/2006/main">
              <a:ext uri="{FF2B5EF4-FFF2-40B4-BE49-F238E27FC236}">
                <a16:creationId xmlns:a16="http://schemas.microsoft.com/office/drawing/2014/main" id="{85BE97A7-7BBA-40CD-9024-0B88C142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09900"/>
            <a:ext cx="1619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32" name="rb_obj_32">
            <a:extLst xmlns:a="http://schemas.openxmlformats.org/drawingml/2006/main">
              <a:ext uri="{FF2B5EF4-FFF2-40B4-BE49-F238E27FC236}">
                <a16:creationId xmlns:a16="http://schemas.microsoft.com/office/drawing/2014/main" id="{45426826-B75F-4D34-A5CC-1F79D1D6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713" y="2390775"/>
            <a:ext cx="953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33" name="rb_obj_33">
            <a:extLst xmlns:a="http://schemas.openxmlformats.org/drawingml/2006/main">
              <a:ext uri="{FF2B5EF4-FFF2-40B4-BE49-F238E27FC236}">
                <a16:creationId xmlns:a16="http://schemas.microsoft.com/office/drawing/2014/main" id="{08BD7546-EC5F-42F4-A523-CBD9FC1D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19463"/>
            <a:ext cx="1619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34" name="rb_obj_34">
            <a:extLst xmlns:a="http://schemas.openxmlformats.org/drawingml/2006/main">
              <a:ext uri="{FF2B5EF4-FFF2-40B4-BE49-F238E27FC236}">
                <a16:creationId xmlns:a16="http://schemas.microsoft.com/office/drawing/2014/main" id="{7ABB07DB-D7C4-4393-9D7C-C271FD07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57450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B5FA6"/>
            </a:solidFill>
          </a:ln>
        </p:spPr>
      </p:sp>
      <p:sp>
        <p:nvSpPr>
          <p:cNvPr id="35" name="rb_obj_35">
            <a:extLst xmlns:a="http://schemas.openxmlformats.org/drawingml/2006/main">
              <a:ext uri="{FF2B5EF4-FFF2-40B4-BE49-F238E27FC236}">
                <a16:creationId xmlns:a16="http://schemas.microsoft.com/office/drawing/2014/main" id="{5D71E57D-C9BC-4BFC-851D-31B1FB51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2457450"/>
            <a:ext cx="953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36" name="rb_obj_36">
            <a:extLst xmlns:a="http://schemas.openxmlformats.org/drawingml/2006/main">
              <a:ext uri="{FF2B5EF4-FFF2-40B4-BE49-F238E27FC236}">
                <a16:creationId xmlns:a16="http://schemas.microsoft.com/office/drawing/2014/main" id="{0AD9AC4E-8A6B-46A6-8448-5960F528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67013"/>
            <a:ext cx="1619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37" name="rb_obj_37">
            <a:extLst xmlns:a="http://schemas.openxmlformats.org/drawingml/2006/main">
              <a:ext uri="{FF2B5EF4-FFF2-40B4-BE49-F238E27FC236}">
                <a16:creationId xmlns:a16="http://schemas.microsoft.com/office/drawing/2014/main" id="{CA2B8A98-39BD-47C9-A797-7DD9AB1A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457450"/>
            <a:ext cx="953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38" name="rb_obj_38">
            <a:extLst xmlns:a="http://schemas.openxmlformats.org/drawingml/2006/main">
              <a:ext uri="{FF2B5EF4-FFF2-40B4-BE49-F238E27FC236}">
                <a16:creationId xmlns:a16="http://schemas.microsoft.com/office/drawing/2014/main" id="{2E5829F3-BABD-425D-A3CD-9473488F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76575"/>
            <a:ext cx="1619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39" name="rb_obj_39">
            <a:extLst xmlns:a="http://schemas.openxmlformats.org/drawingml/2006/main">
              <a:ext uri="{FF2B5EF4-FFF2-40B4-BE49-F238E27FC236}">
                <a16:creationId xmlns:a16="http://schemas.microsoft.com/office/drawing/2014/main" id="{73BA05DE-E077-44FF-BE36-30FD8541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2457450"/>
            <a:ext cx="953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40" name="rb_obj_40">
            <a:extLst xmlns:a="http://schemas.openxmlformats.org/drawingml/2006/main">
              <a:ext uri="{FF2B5EF4-FFF2-40B4-BE49-F238E27FC236}">
                <a16:creationId xmlns:a16="http://schemas.microsoft.com/office/drawing/2014/main" id="{932FB5EA-0EE4-4603-B781-3ACACDE6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86138"/>
            <a:ext cx="1619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41" name="rb_obj_41">
            <a:extLst xmlns:a="http://schemas.openxmlformats.org/drawingml/2006/main">
              <a:ext uri="{FF2B5EF4-FFF2-40B4-BE49-F238E27FC236}">
                <a16:creationId xmlns:a16="http://schemas.microsoft.com/office/drawing/2014/main" id="{D1F9AD13-853F-47F9-B1DA-F851BC0A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2412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B5FA6"/>
            </a:solidFill>
          </a:ln>
        </p:spPr>
      </p:sp>
      <p:sp>
        <p:nvSpPr>
          <p:cNvPr id="42" name="rb_obj_42">
            <a:extLst xmlns:a="http://schemas.openxmlformats.org/drawingml/2006/main">
              <a:ext uri="{FF2B5EF4-FFF2-40B4-BE49-F238E27FC236}">
                <a16:creationId xmlns:a16="http://schemas.microsoft.com/office/drawing/2014/main" id="{932192F1-F8B1-405C-A3D4-28EE3816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1638" y="2524125"/>
            <a:ext cx="953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43" name="rb_obj_43">
            <a:extLst xmlns:a="http://schemas.openxmlformats.org/drawingml/2006/main">
              <a:ext uri="{FF2B5EF4-FFF2-40B4-BE49-F238E27FC236}">
                <a16:creationId xmlns:a16="http://schemas.microsoft.com/office/drawing/2014/main" id="{DF7A09BD-9BB4-4FE5-866D-C7687017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833688"/>
            <a:ext cx="1619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44" name="rb_obj_44">
            <a:extLst xmlns:a="http://schemas.openxmlformats.org/drawingml/2006/main">
              <a:ext uri="{FF2B5EF4-FFF2-40B4-BE49-F238E27FC236}">
                <a16:creationId xmlns:a16="http://schemas.microsoft.com/office/drawing/2014/main" id="{BB3A5E60-81C9-4E76-B7A1-1B611753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24125"/>
            <a:ext cx="953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45" name="rb_obj_45">
            <a:extLst xmlns:a="http://schemas.openxmlformats.org/drawingml/2006/main">
              <a:ext uri="{FF2B5EF4-FFF2-40B4-BE49-F238E27FC236}">
                <a16:creationId xmlns:a16="http://schemas.microsoft.com/office/drawing/2014/main" id="{B17FA0FC-7FA0-4200-A86F-05DA28F3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43250"/>
            <a:ext cx="1619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46" name="rb_obj_46">
            <a:extLst xmlns:a="http://schemas.openxmlformats.org/drawingml/2006/main">
              <a:ext uri="{FF2B5EF4-FFF2-40B4-BE49-F238E27FC236}">
                <a16:creationId xmlns:a16="http://schemas.microsoft.com/office/drawing/2014/main" id="{5B749F64-1DE4-46A1-A79E-EC92E9F2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263" y="2524125"/>
            <a:ext cx="953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47" name="rb_obj_47">
            <a:extLst xmlns:a="http://schemas.openxmlformats.org/drawingml/2006/main">
              <a:ext uri="{FF2B5EF4-FFF2-40B4-BE49-F238E27FC236}">
                <a16:creationId xmlns:a16="http://schemas.microsoft.com/office/drawing/2014/main" id="{91EDF68E-D7AE-4C14-8ECD-A5179738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452813"/>
            <a:ext cx="1619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48" name="rb_obj_48">
            <a:extLst xmlns:a="http://schemas.openxmlformats.org/drawingml/2006/main">
              <a:ext uri="{FF2B5EF4-FFF2-40B4-BE49-F238E27FC236}">
                <a16:creationId xmlns:a16="http://schemas.microsoft.com/office/drawing/2014/main" id="{0F3A447E-4A82-4DC3-AA62-22054460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289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B"/>
          </a:solidFill>
          <a:ln xmlns:a="http://schemas.openxmlformats.org/drawingml/2006/main" w="15240">
            <a:solidFill>
              <a:srgbClr val="173B4B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R&amp;B</a:t>
            </a:r>
          </a:p>
        </p:txBody>
      </p:sp>
      <p:sp>
        <p:nvSpPr>
          <p:cNvPr id="49" name="rb_obj_49">
            <a:extLst xmlns:a="http://schemas.openxmlformats.org/drawingml/2006/main">
              <a:ext uri="{FF2B5EF4-FFF2-40B4-BE49-F238E27FC236}">
                <a16:creationId xmlns:a16="http://schemas.microsoft.com/office/drawing/2014/main" id="{3347659F-F914-4C0F-88DF-B0C1D688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114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105" name=""/>
          <p:cNvCxnSpPr>
            <a:stCxn xmlns:a="http://schemas.openxmlformats.org/drawingml/2006/main" id="49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3124200" y="3119438"/>
            <a:ext cx="1666875" cy="428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E87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106" name=""/>
          <p:cNvCxnSpPr>
            <a:stCxn xmlns:a="http://schemas.openxmlformats.org/drawingml/2006/main" id="4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V="1">
            <a:off x="7267575" y="3143250"/>
            <a:ext cx="16192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FA6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52" name="rb_obj_50">
            <a:extLst xmlns:a="http://schemas.openxmlformats.org/drawingml/2006/main">
              <a:ext uri="{FF2B5EF4-FFF2-40B4-BE49-F238E27FC236}">
                <a16:creationId xmlns:a16="http://schemas.microsoft.com/office/drawing/2014/main" id="{41202E4C-B174-4369-955B-68E83648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CFP network</a:t>
            </a:r>
          </a:p>
          <a:p xmlns:a="http://schemas.openxmlformats.org/drawingml/2006/main">
            <a:pPr algn="ctr">
              <a:defRPr sz="2025" b="0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2D features</a:t>
            </a:r>
          </a:p>
        </p:txBody>
      </p:sp>
      <p:sp>
        <p:nvSpPr>
          <p:cNvPr id="53" name="rb_obj_51">
            <a:extLst xmlns:a="http://schemas.openxmlformats.org/drawingml/2006/main">
              <a:ext uri="{FF2B5EF4-FFF2-40B4-BE49-F238E27FC236}">
                <a16:creationId xmlns:a16="http://schemas.microsoft.com/office/drawing/2014/main" id="{BF4C1F5B-1B7A-4077-A261-88F263AF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0290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OCT network</a:t>
            </a:r>
          </a:p>
          <a:p xmlns:a="http://schemas.openxmlformats.org/drawingml/2006/main">
            <a:pPr algn="ctr">
              <a:defRPr sz="2025" b="0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3D features</a:t>
            </a:r>
          </a:p>
        </p:txBody>
      </p:sp>
      <p:sp>
        <p:nvSpPr>
          <p:cNvPr id="54" name="rb_obj_52">
            <a:extLst xmlns:a="http://schemas.openxmlformats.org/drawingml/2006/main">
              <a:ext uri="{FF2B5EF4-FFF2-40B4-BE49-F238E27FC236}">
                <a16:creationId xmlns:a16="http://schemas.microsoft.com/office/drawing/2014/main" id="{799C5CC0-3B2B-43A7-9F90-45873ABF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530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Separate predictors. Shared information.</a:t>
            </a:r>
          </a:p>
        </p:txBody>
      </p:sp>
      <p:sp>
        <p:nvSpPr>
          <p:cNvPr id="55" name="rb_obj_53">
            <a:extLst xmlns:a="http://schemas.openxmlformats.org/drawingml/2006/main">
              <a:ext uri="{FF2B5EF4-FFF2-40B4-BE49-F238E27FC236}">
                <a16:creationId xmlns:a16="http://schemas.microsoft.com/office/drawing/2014/main" id="{1E98CD71-E1AE-4E45-A651-931D576D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Project overview   Souray Meng 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2085201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rb_obj_54">
            <a:extLst xmlns:a="http://schemas.openxmlformats.org/drawingml/2006/main">
              <a:ext uri="{FF2B5EF4-FFF2-40B4-BE49-F238E27FC236}">
                <a16:creationId xmlns:a16="http://schemas.microsoft.com/office/drawing/2014/main" id="{8AE739CF-3B31-4ACB-A591-2015EC44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Two independent prediction networks</a:t>
            </a:r>
          </a:p>
        </p:txBody>
      </p:sp>
      <p:sp>
        <p:nvSpPr>
          <p:cNvPr id="2" name="rb_obj_55">
            <a:extLst xmlns:a="http://schemas.openxmlformats.org/drawingml/2006/main">
              <a:ext uri="{FF2B5EF4-FFF2-40B4-BE49-F238E27FC236}">
                <a16:creationId xmlns:a16="http://schemas.microsoft.com/office/drawing/2014/main" id="{18547B0C-8759-4C17-9064-76F22ADD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099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A single communication bridge connects native stage3 features</a:t>
            </a:r>
          </a:p>
        </p:txBody>
      </p:sp>
      <p:sp>
        <p:nvSpPr>
          <p:cNvPr id="3" name="rb_obj_56">
            <a:extLst xmlns:a="http://schemas.openxmlformats.org/drawingml/2006/main">
              <a:ext uri="{FF2B5EF4-FFF2-40B4-BE49-F238E27FC236}">
                <a16:creationId xmlns:a16="http://schemas.microsoft.com/office/drawing/2014/main" id="{8FAB7D1A-0A04-4A35-BE5B-B9B1AA78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</a:ln>
        </p:spPr>
      </p:sp>
      <p:sp>
        <p:nvSpPr>
          <p:cNvPr id="4" name="rb_obj_57">
            <a:extLst xmlns:a="http://schemas.openxmlformats.org/drawingml/2006/main">
              <a:ext uri="{FF2B5EF4-FFF2-40B4-BE49-F238E27FC236}">
                <a16:creationId xmlns:a16="http://schemas.microsoft.com/office/drawing/2014/main" id="{533D80DE-87D6-40CA-9F1F-FCCB3778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R&amp;B  Radon Bridge</a:t>
            </a:r>
          </a:p>
        </p:txBody>
      </p:sp>
      <p:sp>
        <p:nvSpPr>
          <p:cNvPr id="5" name="rb_obj_58">
            <a:extLst xmlns:a="http://schemas.openxmlformats.org/drawingml/2006/main">
              <a:ext uri="{FF2B5EF4-FFF2-40B4-BE49-F238E27FC236}">
                <a16:creationId xmlns:a16="http://schemas.microsoft.com/office/drawing/2014/main" id="{234D8B5D-B352-463B-A255-79C20782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02 / 08</a:t>
            </a:r>
          </a:p>
        </p:txBody>
      </p:sp>
      <p:sp>
        <p:nvSpPr>
          <p:cNvPr id="6" name="rb_obj_59">
            <a:extLst xmlns:a="http://schemas.openxmlformats.org/drawingml/2006/main">
              <a:ext uri="{FF2B5EF4-FFF2-40B4-BE49-F238E27FC236}">
                <a16:creationId xmlns:a16="http://schemas.microsoft.com/office/drawing/2014/main" id="{FC012201-C304-4A23-9D2A-9BC5B292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CFP</a:t>
            </a:r>
          </a:p>
        </p:txBody>
      </p:sp>
      <p:sp>
        <p:nvSpPr>
          <p:cNvPr id="7" name="rb_obj_60">
            <a:extLst xmlns:a="http://schemas.openxmlformats.org/drawingml/2006/main">
              <a:ext uri="{FF2B5EF4-FFF2-40B4-BE49-F238E27FC236}">
                <a16:creationId xmlns:a16="http://schemas.microsoft.com/office/drawing/2014/main" id="{E6230A1A-50D3-439D-9C1E-A468D2E7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2D ResNet18</a:t>
            </a:r>
          </a:p>
        </p:txBody>
      </p:sp>
      <p:sp>
        <p:nvSpPr>
          <p:cNvPr id="8" name="rb_obj_61">
            <a:extLst xmlns:a="http://schemas.openxmlformats.org/drawingml/2006/main">
              <a:ext uri="{FF2B5EF4-FFF2-40B4-BE49-F238E27FC236}">
                <a16:creationId xmlns:a16="http://schemas.microsoft.com/office/drawing/2014/main" id="{D6784D50-439F-4931-89EB-5568442F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0193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E87"/>
            </a:solidFill>
          </a:ln>
        </p:spPr>
      </p:sp>
      <p:sp>
        <p:nvSpPr>
          <p:cNvPr id="9" name="rb_obj_62">
            <a:extLst xmlns:a="http://schemas.openxmlformats.org/drawingml/2006/main">
              <a:ext uri="{FF2B5EF4-FFF2-40B4-BE49-F238E27FC236}">
                <a16:creationId xmlns:a16="http://schemas.microsoft.com/office/drawing/2014/main" id="{AA9DD79F-8548-4685-A431-7CF97A1B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813" y="2019300"/>
            <a:ext cx="95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007E87"/>
            </a:solidFill>
          </a:ln>
        </p:spPr>
      </p:sp>
      <p:sp>
        <p:nvSpPr>
          <p:cNvPr id="10" name="rb_obj_63">
            <a:extLst xmlns:a="http://schemas.openxmlformats.org/drawingml/2006/main">
              <a:ext uri="{FF2B5EF4-FFF2-40B4-BE49-F238E27FC236}">
                <a16:creationId xmlns:a16="http://schemas.microsoft.com/office/drawing/2014/main" id="{73BDA885-8062-4AE6-B17A-26AE4FF4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16217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007E87"/>
            </a:solidFill>
          </a:ln>
        </p:spPr>
      </p:sp>
      <p:sp>
        <p:nvSpPr>
          <p:cNvPr id="11" name="rb_obj_64">
            <a:extLst xmlns:a="http://schemas.openxmlformats.org/drawingml/2006/main">
              <a:ext uri="{FF2B5EF4-FFF2-40B4-BE49-F238E27FC236}">
                <a16:creationId xmlns:a16="http://schemas.microsoft.com/office/drawing/2014/main" id="{5AE8DEE1-65FF-4958-87E8-540395F9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19300"/>
            <a:ext cx="95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007E87"/>
            </a:solidFill>
          </a:ln>
        </p:spPr>
      </p:sp>
      <p:sp>
        <p:nvSpPr>
          <p:cNvPr id="12" name="rb_obj_65">
            <a:extLst xmlns:a="http://schemas.openxmlformats.org/drawingml/2006/main">
              <a:ext uri="{FF2B5EF4-FFF2-40B4-BE49-F238E27FC236}">
                <a16:creationId xmlns:a16="http://schemas.microsoft.com/office/drawing/2014/main" id="{939E71C4-6DE6-40D7-9C07-6B9A9E2A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305050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007E87"/>
            </a:solidFill>
          </a:ln>
        </p:spPr>
      </p:sp>
      <p:sp>
        <p:nvSpPr>
          <p:cNvPr id="13" name="rb_obj_66">
            <a:extLst xmlns:a="http://schemas.openxmlformats.org/drawingml/2006/main">
              <a:ext uri="{FF2B5EF4-FFF2-40B4-BE49-F238E27FC236}">
                <a16:creationId xmlns:a16="http://schemas.microsoft.com/office/drawing/2014/main" id="{7EC0CFC8-08C3-45A4-A09E-39FB390F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088" y="2019300"/>
            <a:ext cx="95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007E87"/>
            </a:solidFill>
          </a:ln>
        </p:spPr>
      </p:sp>
      <p:sp>
        <p:nvSpPr>
          <p:cNvPr id="14" name="rb_obj_67">
            <a:extLst xmlns:a="http://schemas.openxmlformats.org/drawingml/2006/main">
              <a:ext uri="{FF2B5EF4-FFF2-40B4-BE49-F238E27FC236}">
                <a16:creationId xmlns:a16="http://schemas.microsoft.com/office/drawing/2014/main" id="{3E106DBE-2789-4E7F-9072-1E9B974D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44792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007E87"/>
            </a:solidFill>
          </a:ln>
        </p:spPr>
      </p:sp>
      <p:sp>
        <p:nvSpPr>
          <p:cNvPr id="15" name="rb_obj_68">
            <a:extLst xmlns:a="http://schemas.openxmlformats.org/drawingml/2006/main">
              <a:ext uri="{FF2B5EF4-FFF2-40B4-BE49-F238E27FC236}">
                <a16:creationId xmlns:a16="http://schemas.microsoft.com/office/drawing/2014/main" id="{8F923418-C9AC-4C45-A4BE-BC49E38C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019300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5240">
            <a:solidFill>
              <a:srgbClr val="007E87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Stages 1–2</a:t>
            </a:r>
          </a:p>
        </p:txBody>
      </p:sp>
      <p:sp>
        <p:nvSpPr>
          <p:cNvPr id="16" name="rb_obj_69">
            <a:extLst xmlns:a="http://schemas.openxmlformats.org/drawingml/2006/main">
              <a:ext uri="{FF2B5EF4-FFF2-40B4-BE49-F238E27FC236}">
                <a16:creationId xmlns:a16="http://schemas.microsoft.com/office/drawing/2014/main" id="{71BF69F5-E990-4F68-B037-6AB1BC3A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19300"/>
            <a:ext cx="1295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5240">
            <a:solidFill>
              <a:srgbClr val="007E87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Stage 3</a:t>
            </a:r>
          </a:p>
        </p:txBody>
      </p:sp>
      <p:sp>
        <p:nvSpPr>
          <p:cNvPr id="17" name="rb_obj_70">
            <a:extLst xmlns:a="http://schemas.openxmlformats.org/drawingml/2006/main">
              <a:ext uri="{FF2B5EF4-FFF2-40B4-BE49-F238E27FC236}">
                <a16:creationId xmlns:a16="http://schemas.microsoft.com/office/drawing/2014/main" id="{89C86577-8921-4105-ACF0-7F984682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019300"/>
            <a:ext cx="1209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5240">
            <a:solidFill>
              <a:srgbClr val="007E87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Stage 4</a:t>
            </a:r>
          </a:p>
        </p:txBody>
      </p:sp>
      <p:sp>
        <p:nvSpPr>
          <p:cNvPr id="18" name="rb_obj_71">
            <a:extLst xmlns:a="http://schemas.openxmlformats.org/drawingml/2006/main">
              <a:ext uri="{FF2B5EF4-FFF2-40B4-BE49-F238E27FC236}">
                <a16:creationId xmlns:a16="http://schemas.microsoft.com/office/drawing/2014/main" id="{4CE6299A-7891-4F35-8303-74C3FE87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019300"/>
            <a:ext cx="1285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5240">
            <a:solidFill>
              <a:srgbClr val="007E87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Eye pool</a:t>
            </a:r>
          </a:p>
          <a:p xmlns:a="http://schemas.openxmlformats.org/drawingml/2006/main">
            <a:pPr algn="ctr">
              <a:defRPr sz="157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+ head</a:t>
            </a:r>
          </a:p>
        </p:txBody>
      </p:sp>
      <p:sp>
        <p:nvSpPr>
          <p:cNvPr id="19" name="rb_obj_72">
            <a:extLst xmlns:a="http://schemas.openxmlformats.org/drawingml/2006/main">
              <a:ext uri="{FF2B5EF4-FFF2-40B4-BE49-F238E27FC236}">
                <a16:creationId xmlns:a16="http://schemas.microsoft.com/office/drawing/2014/main" id="{94DD925B-09CE-486D-BDDF-72C45ADB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19300"/>
            <a:ext cx="133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7E87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CFP</a:t>
            </a:r>
          </a:p>
          <a:p xmlns:a="http://schemas.openxmlformats.org/drawingml/2006/main">
            <a:pPr algn="ctr">
              <a:defRPr sz="157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prediction</a:t>
            </a:r>
          </a:p>
        </p:txBody>
      </p:sp>
      <p:cxnSp>
        <p:nvCxnSpPr>
          <p:cNvPr id="88" name=""/>
          <p:cNvCxnSpPr>
            <a:stCxn xmlns:a="http://schemas.openxmlformats.org/drawingml/2006/main" id="8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371725" y="2305050"/>
            <a:ext cx="4000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E87"/>
            </a:solidFill>
            <a:prstDash val="solid"/>
            <a:tailEnd type="triangle" w="med" len="med"/>
          </a:ln>
        </p:spPr>
      </p:cxnSp>
      <p:cxnSp>
        <p:nvCxnSpPr>
          <p:cNvPr id="89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152900" y="2324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E87"/>
            </a:solidFill>
            <a:prstDash val="solid"/>
            <a:tailEnd type="triangle" w="med" len="med"/>
          </a:ln>
        </p:spPr>
      </p:cxnSp>
      <p:cxnSp>
        <p:nvCxnSpPr>
          <p:cNvPr id="90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867400" y="23241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E87"/>
            </a:solidFill>
            <a:prstDash val="solid"/>
            <a:tailEnd type="triangle" w="med" len="med"/>
          </a:ln>
        </p:spPr>
      </p:cxnSp>
      <p:cxnSp>
        <p:nvCxnSpPr>
          <p:cNvPr id="91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267700" y="23241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E87"/>
            </a:solidFill>
            <a:prstDash val="solid"/>
            <a:tailEnd type="triangle" w="med" len="med"/>
          </a:ln>
        </p:spPr>
      </p:cxnSp>
      <p:cxnSp>
        <p:nvCxnSpPr>
          <p:cNvPr id="92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944100" y="23241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E87"/>
            </a:solidFill>
            <a:prstDash val="solid"/>
            <a:tailEnd type="triangle" w="med" len="med"/>
          </a:ln>
        </p:spPr>
      </p:cxnSp>
      <p:sp>
        <p:nvSpPr>
          <p:cNvPr id="25" name="rb_obj_73">
            <a:extLst xmlns:a="http://schemas.openxmlformats.org/drawingml/2006/main">
              <a:ext uri="{FF2B5EF4-FFF2-40B4-BE49-F238E27FC236}">
                <a16:creationId xmlns:a16="http://schemas.microsoft.com/office/drawing/2014/main" id="{55F82DC5-8DB9-4E0A-9614-06B2C41B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051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Stage3: [2B, 256, 14, 14]</a:t>
            </a:r>
          </a:p>
        </p:txBody>
      </p:sp>
      <p:sp>
        <p:nvSpPr>
          <p:cNvPr id="26" name="rb_obj_74">
            <a:extLst xmlns:a="http://schemas.openxmlformats.org/drawingml/2006/main">
              <a:ext uri="{FF2B5EF4-FFF2-40B4-BE49-F238E27FC236}">
                <a16:creationId xmlns:a16="http://schemas.microsoft.com/office/drawing/2014/main" id="{347B94B9-7D08-4BC9-9C65-DCE4DFDD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955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CE CFP</a:t>
            </a:r>
          </a:p>
        </p:txBody>
      </p:sp>
      <p:sp>
        <p:nvSpPr>
          <p:cNvPr id="27" name="rb_obj_75">
            <a:extLst xmlns:a="http://schemas.openxmlformats.org/drawingml/2006/main">
              <a:ext uri="{FF2B5EF4-FFF2-40B4-BE49-F238E27FC236}">
                <a16:creationId xmlns:a16="http://schemas.microsoft.com/office/drawing/2014/main" id="{EBDDF21C-76BC-477B-AF8B-423901C9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OCT</a:t>
            </a:r>
          </a:p>
        </p:txBody>
      </p:sp>
      <p:sp>
        <p:nvSpPr>
          <p:cNvPr id="28" name="rb_obj_76">
            <a:extLst xmlns:a="http://schemas.openxmlformats.org/drawingml/2006/main">
              <a:ext uri="{FF2B5EF4-FFF2-40B4-BE49-F238E27FC236}">
                <a16:creationId xmlns:a16="http://schemas.microsoft.com/office/drawing/2014/main" id="{7D647FB4-B2A1-4C60-B419-F23EA09C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3D ResNet18</a:t>
            </a:r>
          </a:p>
        </p:txBody>
      </p:sp>
      <p:sp>
        <p:nvSpPr>
          <p:cNvPr id="29" name="rb_obj_77">
            <a:extLst xmlns:a="http://schemas.openxmlformats.org/drawingml/2006/main">
              <a:ext uri="{FF2B5EF4-FFF2-40B4-BE49-F238E27FC236}">
                <a16:creationId xmlns:a16="http://schemas.microsoft.com/office/drawing/2014/main" id="{848D9D71-2DDA-4093-BC9B-4488C5F5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2435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B5FA6"/>
            </a:solidFill>
          </a:ln>
        </p:spPr>
      </p:sp>
      <p:sp>
        <p:nvSpPr>
          <p:cNvPr id="30" name="rb_obj_78">
            <a:extLst xmlns:a="http://schemas.openxmlformats.org/drawingml/2006/main">
              <a:ext uri="{FF2B5EF4-FFF2-40B4-BE49-F238E27FC236}">
                <a16:creationId xmlns:a16="http://schemas.microsoft.com/office/drawing/2014/main" id="{2274B0F6-1DAD-4847-B5B4-4CD99B6C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263" y="4324350"/>
            <a:ext cx="95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31" name="rb_obj_79">
            <a:extLst xmlns:a="http://schemas.openxmlformats.org/drawingml/2006/main">
              <a:ext uri="{FF2B5EF4-FFF2-40B4-BE49-F238E27FC236}">
                <a16:creationId xmlns:a16="http://schemas.microsoft.com/office/drawing/2014/main" id="{8DDD58A4-57A6-4A5D-A0EC-61FE952E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6722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32" name="rb_obj_80">
            <a:extLst xmlns:a="http://schemas.openxmlformats.org/drawingml/2006/main">
              <a:ext uri="{FF2B5EF4-FFF2-40B4-BE49-F238E27FC236}">
                <a16:creationId xmlns:a16="http://schemas.microsoft.com/office/drawing/2014/main" id="{AFD6BE2F-4916-4808-B58D-ADBE6624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324350"/>
            <a:ext cx="95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33" name="rb_obj_81">
            <a:extLst xmlns:a="http://schemas.openxmlformats.org/drawingml/2006/main">
              <a:ext uri="{FF2B5EF4-FFF2-40B4-BE49-F238E27FC236}">
                <a16:creationId xmlns:a16="http://schemas.microsoft.com/office/drawing/2014/main" id="{27F312CB-F407-4138-8B62-1E5AEDE4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10100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34" name="rb_obj_82">
            <a:extLst xmlns:a="http://schemas.openxmlformats.org/drawingml/2006/main">
              <a:ext uri="{FF2B5EF4-FFF2-40B4-BE49-F238E27FC236}">
                <a16:creationId xmlns:a16="http://schemas.microsoft.com/office/drawing/2014/main" id="{B8BB0C9B-4549-48DC-9F9C-F062723B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538" y="4324350"/>
            <a:ext cx="95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35" name="rb_obj_83">
            <a:extLst xmlns:a="http://schemas.openxmlformats.org/drawingml/2006/main">
              <a:ext uri="{FF2B5EF4-FFF2-40B4-BE49-F238E27FC236}">
                <a16:creationId xmlns:a16="http://schemas.microsoft.com/office/drawing/2014/main" id="{512647CF-189C-417D-8E3F-77B05FE6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5297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36" name="rb_obj_84">
            <a:extLst xmlns:a="http://schemas.openxmlformats.org/drawingml/2006/main">
              <a:ext uri="{FF2B5EF4-FFF2-40B4-BE49-F238E27FC236}">
                <a16:creationId xmlns:a16="http://schemas.microsoft.com/office/drawing/2014/main" id="{6E51F833-4E02-4A43-86A1-B803D959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91025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B5FA6"/>
            </a:solidFill>
          </a:ln>
        </p:spPr>
      </p:sp>
      <p:sp>
        <p:nvSpPr>
          <p:cNvPr id="37" name="rb_obj_85">
            <a:extLst xmlns:a="http://schemas.openxmlformats.org/drawingml/2006/main">
              <a:ext uri="{FF2B5EF4-FFF2-40B4-BE49-F238E27FC236}">
                <a16:creationId xmlns:a16="http://schemas.microsoft.com/office/drawing/2014/main" id="{CB98B558-B559-42DF-ABBE-E2FC8B53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538" y="4391025"/>
            <a:ext cx="95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38" name="rb_obj_86">
            <a:extLst xmlns:a="http://schemas.openxmlformats.org/drawingml/2006/main">
              <a:ext uri="{FF2B5EF4-FFF2-40B4-BE49-F238E27FC236}">
                <a16:creationId xmlns:a16="http://schemas.microsoft.com/office/drawing/2014/main" id="{CA5A536E-9678-4AEE-B6A9-D4A4B21F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33900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39" name="rb_obj_87">
            <a:extLst xmlns:a="http://schemas.openxmlformats.org/drawingml/2006/main">
              <a:ext uri="{FF2B5EF4-FFF2-40B4-BE49-F238E27FC236}">
                <a16:creationId xmlns:a16="http://schemas.microsoft.com/office/drawing/2014/main" id="{CCB07655-C660-46B8-9AFD-CA888B71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391025"/>
            <a:ext cx="95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40" name="rb_obj_88">
            <a:extLst xmlns:a="http://schemas.openxmlformats.org/drawingml/2006/main">
              <a:ext uri="{FF2B5EF4-FFF2-40B4-BE49-F238E27FC236}">
                <a16:creationId xmlns:a16="http://schemas.microsoft.com/office/drawing/2014/main" id="{9ABDEF92-4D87-401B-887C-944727FF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7677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41" name="rb_obj_89">
            <a:extLst xmlns:a="http://schemas.openxmlformats.org/drawingml/2006/main">
              <a:ext uri="{FF2B5EF4-FFF2-40B4-BE49-F238E27FC236}">
                <a16:creationId xmlns:a16="http://schemas.microsoft.com/office/drawing/2014/main" id="{4DE676B0-5FDC-4159-97F6-32BD1A0D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3" y="4391025"/>
            <a:ext cx="95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42" name="rb_obj_90">
            <a:extLst xmlns:a="http://schemas.openxmlformats.org/drawingml/2006/main">
              <a:ext uri="{FF2B5EF4-FFF2-40B4-BE49-F238E27FC236}">
                <a16:creationId xmlns:a16="http://schemas.microsoft.com/office/drawing/2014/main" id="{946C63FD-712B-4FF7-B6A3-C97B9E9F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19650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43" name="rb_obj_91">
            <a:extLst xmlns:a="http://schemas.openxmlformats.org/drawingml/2006/main">
              <a:ext uri="{FF2B5EF4-FFF2-40B4-BE49-F238E27FC236}">
                <a16:creationId xmlns:a16="http://schemas.microsoft.com/office/drawing/2014/main" id="{AFF2B5B6-68C8-4E71-AEC8-36210023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457700"/>
            <a:ext cx="590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B5FA6"/>
            </a:solidFill>
          </a:ln>
        </p:spPr>
      </p:sp>
      <p:sp>
        <p:nvSpPr>
          <p:cNvPr id="44" name="rb_obj_92">
            <a:extLst xmlns:a="http://schemas.openxmlformats.org/drawingml/2006/main">
              <a:ext uri="{FF2B5EF4-FFF2-40B4-BE49-F238E27FC236}">
                <a16:creationId xmlns:a16="http://schemas.microsoft.com/office/drawing/2014/main" id="{D76970C2-853A-4539-B925-71EC667E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8813" y="4457700"/>
            <a:ext cx="95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45" name="rb_obj_93">
            <a:extLst xmlns:a="http://schemas.openxmlformats.org/drawingml/2006/main">
              <a:ext uri="{FF2B5EF4-FFF2-40B4-BE49-F238E27FC236}">
                <a16:creationId xmlns:a16="http://schemas.microsoft.com/office/drawing/2014/main" id="{C9630EC3-6164-439D-881E-E7E7076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60057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46" name="rb_obj_94">
            <a:extLst xmlns:a="http://schemas.openxmlformats.org/drawingml/2006/main">
              <a:ext uri="{FF2B5EF4-FFF2-40B4-BE49-F238E27FC236}">
                <a16:creationId xmlns:a16="http://schemas.microsoft.com/office/drawing/2014/main" id="{5ED1A7A7-DC70-4853-914E-B92C6A45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57700"/>
            <a:ext cx="95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47" name="rb_obj_95">
            <a:extLst xmlns:a="http://schemas.openxmlformats.org/drawingml/2006/main">
              <a:ext uri="{FF2B5EF4-FFF2-40B4-BE49-F238E27FC236}">
                <a16:creationId xmlns:a16="http://schemas.microsoft.com/office/drawing/2014/main" id="{814D9C3E-1362-45F2-B6ED-C117173D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743450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48" name="rb_obj_96">
            <a:extLst xmlns:a="http://schemas.openxmlformats.org/drawingml/2006/main">
              <a:ext uri="{FF2B5EF4-FFF2-40B4-BE49-F238E27FC236}">
                <a16:creationId xmlns:a16="http://schemas.microsoft.com/office/drawing/2014/main" id="{E79F8A31-E99B-4D93-B2AE-9EDEA5E5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088" y="4457700"/>
            <a:ext cx="953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49" name="rb_obj_97">
            <a:extLst xmlns:a="http://schemas.openxmlformats.org/drawingml/2006/main">
              <a:ext uri="{FF2B5EF4-FFF2-40B4-BE49-F238E27FC236}">
                <a16:creationId xmlns:a16="http://schemas.microsoft.com/office/drawing/2014/main" id="{1EE64B5B-2D73-4307-966E-BA0592A3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88632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3">
            <a:solidFill>
              <a:srgbClr val="8B5FA6"/>
            </a:solidFill>
          </a:ln>
        </p:spPr>
      </p:sp>
      <p:sp>
        <p:nvSpPr>
          <p:cNvPr id="50" name="rb_obj_98">
            <a:extLst xmlns:a="http://schemas.openxmlformats.org/drawingml/2006/main">
              <a:ext uri="{FF2B5EF4-FFF2-40B4-BE49-F238E27FC236}">
                <a16:creationId xmlns:a16="http://schemas.microsoft.com/office/drawing/2014/main" id="{13122F3D-CCA0-4CF7-B467-0A64D4E0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457700"/>
            <a:ext cx="1381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6"/>
          </a:solidFill>
          <a:ln xmlns:a="http://schemas.openxmlformats.org/drawingml/2006/main" w="15240">
            <a:solidFill>
              <a:srgbClr val="8B5FA6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Stages 1–2</a:t>
            </a:r>
          </a:p>
        </p:txBody>
      </p:sp>
      <p:sp>
        <p:nvSpPr>
          <p:cNvPr id="51" name="rb_obj_99">
            <a:extLst xmlns:a="http://schemas.openxmlformats.org/drawingml/2006/main">
              <a:ext uri="{FF2B5EF4-FFF2-40B4-BE49-F238E27FC236}">
                <a16:creationId xmlns:a16="http://schemas.microsoft.com/office/drawing/2014/main" id="{B4FFDD63-9CCF-42D9-A928-DA2ADEBB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57700"/>
            <a:ext cx="1295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6"/>
          </a:solidFill>
          <a:ln xmlns:a="http://schemas.openxmlformats.org/drawingml/2006/main" w="15240">
            <a:solidFill>
              <a:srgbClr val="8B5FA6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Stage 3</a:t>
            </a:r>
          </a:p>
        </p:txBody>
      </p:sp>
      <p:sp>
        <p:nvSpPr>
          <p:cNvPr id="52" name="rb_obj_100">
            <a:extLst xmlns:a="http://schemas.openxmlformats.org/drawingml/2006/main">
              <a:ext uri="{FF2B5EF4-FFF2-40B4-BE49-F238E27FC236}">
                <a16:creationId xmlns:a16="http://schemas.microsoft.com/office/drawing/2014/main" id="{6F1E0CF9-4FB4-48C3-938B-63F1D45F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457700"/>
            <a:ext cx="12096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6"/>
          </a:solidFill>
          <a:ln xmlns:a="http://schemas.openxmlformats.org/drawingml/2006/main" w="15240">
            <a:solidFill>
              <a:srgbClr val="8B5FA6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Stage 4</a:t>
            </a:r>
          </a:p>
        </p:txBody>
      </p:sp>
      <p:sp>
        <p:nvSpPr>
          <p:cNvPr id="53" name="rb_obj_101">
            <a:extLst xmlns:a="http://schemas.openxmlformats.org/drawingml/2006/main">
              <a:ext uri="{FF2B5EF4-FFF2-40B4-BE49-F238E27FC236}">
                <a16:creationId xmlns:a16="http://schemas.microsoft.com/office/drawing/2014/main" id="{D4B44E27-9D8B-45A1-BC1C-38283666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457700"/>
            <a:ext cx="1285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6"/>
          </a:solidFill>
          <a:ln xmlns:a="http://schemas.openxmlformats.org/drawingml/2006/main" w="15240">
            <a:solidFill>
              <a:srgbClr val="8B5FA6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Eye pool</a:t>
            </a:r>
          </a:p>
          <a:p xmlns:a="http://schemas.openxmlformats.org/drawingml/2006/main">
            <a:pPr algn="ctr">
              <a:defRPr sz="1575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+ head</a:t>
            </a:r>
          </a:p>
        </p:txBody>
      </p:sp>
      <p:sp>
        <p:nvSpPr>
          <p:cNvPr id="54" name="rb_obj_102">
            <a:extLst xmlns:a="http://schemas.openxmlformats.org/drawingml/2006/main">
              <a:ext uri="{FF2B5EF4-FFF2-40B4-BE49-F238E27FC236}">
                <a16:creationId xmlns:a16="http://schemas.microsoft.com/office/drawing/2014/main" id="{B2F47974-7397-476F-98E6-732804A5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57700"/>
            <a:ext cx="133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B5FA6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OCT</a:t>
            </a:r>
          </a:p>
          <a:p xmlns:a="http://schemas.openxmlformats.org/drawingml/2006/main">
            <a:pPr algn="ctr">
              <a:defRPr sz="1575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prediction</a:t>
            </a:r>
          </a:p>
        </p:txBody>
      </p:sp>
      <p:cxnSp>
        <p:nvCxnSpPr>
          <p:cNvPr id="123" name=""/>
          <p:cNvCxnSpPr>
            <a:stCxn xmlns:a="http://schemas.openxmlformats.org/drawingml/2006/main" id="43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2371725" y="4743450"/>
            <a:ext cx="4000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FA6"/>
            </a:solidFill>
            <a:prstDash val="solid"/>
            <a:tailEnd type="triangle" w="med" len="med"/>
          </a:ln>
        </p:spPr>
      </p:cxnSp>
      <p:cxnSp>
        <p:nvCxnSpPr>
          <p:cNvPr id="124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4152900" y="47625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FA6"/>
            </a:solidFill>
            <a:prstDash val="solid"/>
            <a:tailEnd type="triangle" w="med" len="med"/>
          </a:ln>
        </p:spPr>
      </p:cxnSp>
      <p:cxnSp>
        <p:nvCxnSpPr>
          <p:cNvPr id="125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5867400" y="47625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FA6"/>
            </a:solidFill>
            <a:prstDash val="solid"/>
            <a:tailEnd type="triangle" w="med" len="med"/>
          </a:ln>
        </p:spPr>
      </p:cxnSp>
      <p:cxnSp>
        <p:nvCxnSpPr>
          <p:cNvPr id="126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8267700" y="47625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FA6"/>
            </a:solidFill>
            <a:prstDash val="solid"/>
            <a:tailEnd type="triangle" w="med" len="med"/>
          </a:ln>
        </p:spPr>
      </p:cxnSp>
      <p:cxnSp>
        <p:nvCxnSpPr>
          <p:cNvPr id="127" name="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9944100" y="47625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FA6"/>
            </a:solidFill>
            <a:prstDash val="solid"/>
            <a:tailEnd type="triangle" w="med" len="med"/>
          </a:ln>
        </p:spPr>
      </p:cxnSp>
      <p:sp>
        <p:nvSpPr>
          <p:cNvPr id="60" name="rb_obj_103">
            <a:extLst xmlns:a="http://schemas.openxmlformats.org/drawingml/2006/main">
              <a:ext uri="{FF2B5EF4-FFF2-40B4-BE49-F238E27FC236}">
                <a16:creationId xmlns:a16="http://schemas.microsoft.com/office/drawing/2014/main" id="{508921B9-C444-41A9-9DC3-8AC6B9C7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1435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Stage3: [2B, 256, 8, 6, 6]</a:t>
            </a:r>
          </a:p>
        </p:txBody>
      </p:sp>
      <p:sp>
        <p:nvSpPr>
          <p:cNvPr id="61" name="rb_obj_104">
            <a:extLst xmlns:a="http://schemas.openxmlformats.org/drawingml/2006/main">
              <a:ext uri="{FF2B5EF4-FFF2-40B4-BE49-F238E27FC236}">
                <a16:creationId xmlns:a16="http://schemas.microsoft.com/office/drawing/2014/main" id="{7DFFE503-7985-417C-854B-B443BACB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1339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CE OCT</a:t>
            </a:r>
          </a:p>
        </p:txBody>
      </p:sp>
      <p:sp>
        <p:nvSpPr>
          <p:cNvPr id="62" name="rb_obj_105">
            <a:extLst xmlns:a="http://schemas.openxmlformats.org/drawingml/2006/main">
              <a:ext uri="{FF2B5EF4-FFF2-40B4-BE49-F238E27FC236}">
                <a16:creationId xmlns:a16="http://schemas.microsoft.com/office/drawing/2014/main" id="{281F732F-CE3D-474F-AFB7-4BAACEB7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9925"/>
            <a:ext cx="1866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B"/>
          </a:solidFill>
          <a:ln xmlns:a="http://schemas.openxmlformats.org/drawingml/2006/main" w="15240">
            <a:solidFill>
              <a:srgbClr val="173B4B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R&amp;B</a:t>
            </a:r>
          </a:p>
          <a:p xmlns:a="http://schemas.openxmlformats.org/drawingml/2006/main">
            <a:pPr algn="ctr">
              <a:defRPr sz="180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communication</a:t>
            </a:r>
          </a:p>
        </p:txBody>
      </p:sp>
      <p:sp>
        <p:nvSpPr>
          <p:cNvPr id="63" name="rb_obj_106">
            <a:extLst xmlns:a="http://schemas.openxmlformats.org/drawingml/2006/main">
              <a:ext uri="{FF2B5EF4-FFF2-40B4-BE49-F238E27FC236}">
                <a16:creationId xmlns:a16="http://schemas.microsoft.com/office/drawing/2014/main" id="{4472CFEE-D7E8-48BE-86FD-A4DD1794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28900"/>
            <a:ext cx="762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sp>
        <p:nvSpPr>
          <p:cNvPr id="64" name="rb_obj_107">
            <a:extLst xmlns:a="http://schemas.openxmlformats.org/drawingml/2006/main">
              <a:ext uri="{FF2B5EF4-FFF2-40B4-BE49-F238E27FC236}">
                <a16:creationId xmlns:a16="http://schemas.microsoft.com/office/drawing/2014/main" id="{B0CA397E-2A86-49E4-A94A-D37DA730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81500"/>
            <a:ext cx="762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133" name=""/>
          <p:cNvCxnSpPr>
            <a:stCxn xmlns:a="http://schemas.openxmlformats.org/drawingml/2006/main" id="63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5219700" y="2705100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E87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134" name=""/>
          <p:cNvCxnSpPr>
            <a:stCxn xmlns:a="http://schemas.openxmlformats.org/drawingml/2006/main" id="62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5219700" y="397192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FA6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67" name="rb_obj_108">
            <a:extLst xmlns:a="http://schemas.openxmlformats.org/drawingml/2006/main">
              <a:ext uri="{FF2B5EF4-FFF2-40B4-BE49-F238E27FC236}">
                <a16:creationId xmlns:a16="http://schemas.microsoft.com/office/drawing/2014/main" id="{302D6D4B-F446-427A-8292-A68569F1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1945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MHD V4</a:t>
            </a:r>
          </a:p>
          <a:p xmlns:a="http://schemas.openxmlformats.org/drawingml/2006/main">
            <a:pPr algn="l">
              <a:defRPr sz="180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Original node IDs retained</a:t>
            </a:r>
          </a:p>
        </p:txBody>
      </p:sp>
      <p:sp>
        <p:nvSpPr>
          <p:cNvPr id="68" name="rb_obj_109">
            <a:extLst xmlns:a="http://schemas.openxmlformats.org/drawingml/2006/main">
              <a:ext uri="{FF2B5EF4-FFF2-40B4-BE49-F238E27FC236}">
                <a16:creationId xmlns:a16="http://schemas.microsoft.com/office/drawing/2014/main" id="{F22E26B2-0495-4A4A-AF2D-B1F88592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Two eyes per participant    B = participants per batch</a:t>
            </a:r>
          </a:p>
        </p:txBody>
      </p:sp>
    </p:spTree>
    <p:extLst>
      <p:ext uri="{BB962C8B-B14F-4D97-AF65-F5344CB8AC3E}">
        <p14:creationId xmlns:p14="http://schemas.microsoft.com/office/powerpoint/2010/main" val="20965248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rb_obj_110">
            <a:extLst xmlns:a="http://schemas.openxmlformats.org/drawingml/2006/main">
              <a:ext uri="{FF2B5EF4-FFF2-40B4-BE49-F238E27FC236}">
                <a16:creationId xmlns:a16="http://schemas.microsoft.com/office/drawing/2014/main" id="{3E9F4C7D-92B4-4100-88C0-AFF95D7A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Inside a fixed-channel Radon Bridge</a:t>
            </a:r>
          </a:p>
        </p:txBody>
      </p:sp>
      <p:sp>
        <p:nvSpPr>
          <p:cNvPr id="2" name="rb_obj_111">
            <a:extLst xmlns:a="http://schemas.openxmlformats.org/drawingml/2006/main">
              <a:ext uri="{FF2B5EF4-FFF2-40B4-BE49-F238E27FC236}">
                <a16:creationId xmlns:a16="http://schemas.microsoft.com/office/drawing/2014/main" id="{D88E867B-975D-4BA4-8699-DEA43A6A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099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Fixed geometry surrounds one learnable linear communication operator</a:t>
            </a:r>
          </a:p>
        </p:txBody>
      </p:sp>
      <p:sp>
        <p:nvSpPr>
          <p:cNvPr id="3" name="rb_obj_112">
            <a:extLst xmlns:a="http://schemas.openxmlformats.org/drawingml/2006/main">
              <a:ext uri="{FF2B5EF4-FFF2-40B4-BE49-F238E27FC236}">
                <a16:creationId xmlns:a16="http://schemas.microsoft.com/office/drawing/2014/main" id="{42FC9B00-64AE-449D-A19C-DFF4F634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</a:ln>
        </p:spPr>
      </p:sp>
      <p:sp>
        <p:nvSpPr>
          <p:cNvPr id="4" name="rb_obj_113">
            <a:extLst xmlns:a="http://schemas.openxmlformats.org/drawingml/2006/main">
              <a:ext uri="{FF2B5EF4-FFF2-40B4-BE49-F238E27FC236}">
                <a16:creationId xmlns:a16="http://schemas.microsoft.com/office/drawing/2014/main" id="{7C43B6E6-39EC-4BA4-BC03-91D9F796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R&amp;B  Radon Bridge</a:t>
            </a:r>
          </a:p>
        </p:txBody>
      </p:sp>
      <p:sp>
        <p:nvSpPr>
          <p:cNvPr id="5" name="rb_obj_114">
            <a:extLst xmlns:a="http://schemas.openxmlformats.org/drawingml/2006/main">
              <a:ext uri="{FF2B5EF4-FFF2-40B4-BE49-F238E27FC236}">
                <a16:creationId xmlns:a16="http://schemas.microsoft.com/office/drawing/2014/main" id="{B642C153-656D-45F9-A41D-4A51CE3E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03 / 08</a:t>
            </a:r>
          </a:p>
        </p:txBody>
      </p:sp>
      <p:sp>
        <p:nvSpPr>
          <p:cNvPr id="6" name="rb_obj_115">
            <a:extLst xmlns:a="http://schemas.openxmlformats.org/drawingml/2006/main">
              <a:ext uri="{FF2B5EF4-FFF2-40B4-BE49-F238E27FC236}">
                <a16:creationId xmlns:a16="http://schemas.microsoft.com/office/drawing/2014/main" id="{5DC962C8-5553-4CE1-AE03-8E7FFFCB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7E87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X CFP</a:t>
            </a:r>
          </a:p>
        </p:txBody>
      </p:sp>
      <p:sp>
        <p:nvSpPr>
          <p:cNvPr id="7" name="rb_obj_116">
            <a:extLst xmlns:a="http://schemas.openxmlformats.org/drawingml/2006/main">
              <a:ext uri="{FF2B5EF4-FFF2-40B4-BE49-F238E27FC236}">
                <a16:creationId xmlns:a16="http://schemas.microsoft.com/office/drawing/2014/main" id="{26C8759C-F819-456A-B806-C00386F7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18122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5240">
            <a:solidFill>
              <a:srgbClr val="007E87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Qᵀ X</a:t>
            </a:r>
          </a:p>
        </p:txBody>
      </p:sp>
      <p:sp>
        <p:nvSpPr>
          <p:cNvPr id="8" name="rb_obj_117">
            <a:extLst xmlns:a="http://schemas.openxmlformats.org/drawingml/2006/main">
              <a:ext uri="{FF2B5EF4-FFF2-40B4-BE49-F238E27FC236}">
                <a16:creationId xmlns:a16="http://schemas.microsoft.com/office/drawing/2014/main" id="{F5D676D6-1276-4699-95A4-C69B80A9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81225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5240">
            <a:solidFill>
              <a:srgbClr val="007E87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Radon</a:t>
            </a:r>
          </a:p>
        </p:txBody>
      </p:sp>
      <p:sp>
        <p:nvSpPr>
          <p:cNvPr id="9" name="rb_obj_118">
            <a:extLst xmlns:a="http://schemas.openxmlformats.org/drawingml/2006/main">
              <a:ext uri="{FF2B5EF4-FFF2-40B4-BE49-F238E27FC236}">
                <a16:creationId xmlns:a16="http://schemas.microsoft.com/office/drawing/2014/main" id="{358BFA6D-30AE-4CEB-AE34-826B7B61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81225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5240">
            <a:solidFill>
              <a:srgbClr val="007E87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Ordinary</a:t>
            </a:r>
          </a:p>
          <a:p xmlns:a="http://schemas.openxmlformats.org/drawingml/2006/main">
            <a:pPr algn="ctr">
              <a:defRPr sz="172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BP</a:t>
            </a:r>
          </a:p>
        </p:txBody>
      </p:sp>
      <p:sp>
        <p:nvSpPr>
          <p:cNvPr id="10" name="rb_obj_119">
            <a:extLst xmlns:a="http://schemas.openxmlformats.org/drawingml/2006/main">
              <a:ext uri="{FF2B5EF4-FFF2-40B4-BE49-F238E27FC236}">
                <a16:creationId xmlns:a16="http://schemas.microsoft.com/office/drawing/2014/main" id="{EF122DC4-6CC0-4209-BDF7-721E0687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18122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5240">
            <a:solidFill>
              <a:srgbClr val="007E87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Q ΔZ</a:t>
            </a:r>
          </a:p>
        </p:txBody>
      </p:sp>
      <p:sp>
        <p:nvSpPr>
          <p:cNvPr id="11" name="rb_obj_120">
            <a:extLst xmlns:a="http://schemas.openxmlformats.org/drawingml/2006/main">
              <a:ext uri="{FF2B5EF4-FFF2-40B4-BE49-F238E27FC236}">
                <a16:creationId xmlns:a16="http://schemas.microsoft.com/office/drawing/2014/main" id="{CEA73D0C-FD2E-4AD5-8B90-A8611DBA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30505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7E87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cxnSp>
        <p:nvCxnSpPr>
          <p:cNvPr id="5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571625" y="252412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E87"/>
            </a:solidFill>
            <a:prstDash val="solid"/>
            <a:tail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71800" y="25241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E87"/>
            </a:solidFill>
            <a:prstDash val="solid"/>
            <a:tailEnd type="triangle" w="med" len="med"/>
          </a:ln>
        </p:spPr>
      </p:cxnSp>
      <p:cxnSp>
        <p:nvCxnSpPr>
          <p:cNvPr id="5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63000" y="25241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E87"/>
            </a:solidFill>
            <a:prstDash val="solid"/>
            <a:tailEnd type="triangle" w="med" len="med"/>
          </a:ln>
        </p:spPr>
      </p:cxnSp>
      <p:cxnSp>
        <p:nvCxnSpPr>
          <p:cNvPr id="60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039350" y="2524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E87"/>
            </a:solidFill>
            <a:prstDash val="solid"/>
            <a:tailEnd type="triangle" w="med" len="med"/>
          </a:ln>
        </p:spPr>
      </p:cxnSp>
      <p:sp>
        <p:nvSpPr>
          <p:cNvPr id="16" name="rb_obj_121">
            <a:extLst xmlns:a="http://schemas.openxmlformats.org/drawingml/2006/main">
              <a:ext uri="{FF2B5EF4-FFF2-40B4-BE49-F238E27FC236}">
                <a16:creationId xmlns:a16="http://schemas.microsoft.com/office/drawing/2014/main" id="{549BB243-B9A6-40BC-8043-2F8E176E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71650"/>
            <a:ext cx="953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7E87"/>
            </a:solidFill>
          </a:ln>
        </p:spPr>
      </p:sp>
      <p:sp>
        <p:nvSpPr>
          <p:cNvPr id="17" name="rb_obj_122">
            <a:extLst xmlns:a="http://schemas.openxmlformats.org/drawingml/2006/main">
              <a:ext uri="{FF2B5EF4-FFF2-40B4-BE49-F238E27FC236}">
                <a16:creationId xmlns:a16="http://schemas.microsoft.com/office/drawing/2014/main" id="{9FFC20AD-04FF-4BB7-A075-A1C91457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71650"/>
            <a:ext cx="9953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7E87"/>
            </a:solidFill>
          </a:ln>
        </p:spPr>
      </p:sp>
      <p:sp>
        <p:nvSpPr>
          <p:cNvPr id="18" name="rb_obj_123">
            <a:extLst xmlns:a="http://schemas.openxmlformats.org/drawingml/2006/main">
              <a:ext uri="{FF2B5EF4-FFF2-40B4-BE49-F238E27FC236}">
                <a16:creationId xmlns:a16="http://schemas.microsoft.com/office/drawing/2014/main" id="{CC6B345C-D7F6-445A-8169-FC53CFA9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771650"/>
            <a:ext cx="953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7E87"/>
            </a:solidFill>
          </a:ln>
        </p:spPr>
      </p:sp>
      <p:sp>
        <p:nvSpPr>
          <p:cNvPr id="19" name="rb_obj_124">
            <a:extLst xmlns:a="http://schemas.openxmlformats.org/drawingml/2006/main">
              <a:ext uri="{FF2B5EF4-FFF2-40B4-BE49-F238E27FC236}">
                <a16:creationId xmlns:a16="http://schemas.microsoft.com/office/drawing/2014/main" id="{3BB15357-B359-4E0A-8C10-E15F0FA6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430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residual X</a:t>
            </a:r>
          </a:p>
        </p:txBody>
      </p:sp>
      <p:sp>
        <p:nvSpPr>
          <p:cNvPr id="20" name="rb_obj_125">
            <a:extLst xmlns:a="http://schemas.openxmlformats.org/drawingml/2006/main">
              <a:ext uri="{FF2B5EF4-FFF2-40B4-BE49-F238E27FC236}">
                <a16:creationId xmlns:a16="http://schemas.microsoft.com/office/drawing/2014/main" id="{79285638-DEE3-4FDC-A794-747DDADA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9560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[2B, rM, S]</a:t>
            </a:r>
          </a:p>
        </p:txBody>
      </p:sp>
      <p:sp>
        <p:nvSpPr>
          <p:cNvPr id="21" name="rb_obj_126">
            <a:extLst xmlns:a="http://schemas.openxmlformats.org/drawingml/2006/main">
              <a:ext uri="{FF2B5EF4-FFF2-40B4-BE49-F238E27FC236}">
                <a16:creationId xmlns:a16="http://schemas.microsoft.com/office/drawing/2014/main" id="{156CF232-7F8E-4DDF-A6FB-232A7968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29100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B5FA6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X OCT</a:t>
            </a:r>
          </a:p>
        </p:txBody>
      </p:sp>
      <p:sp>
        <p:nvSpPr>
          <p:cNvPr id="22" name="rb_obj_127">
            <a:extLst xmlns:a="http://schemas.openxmlformats.org/drawingml/2006/main">
              <a:ext uri="{FF2B5EF4-FFF2-40B4-BE49-F238E27FC236}">
                <a16:creationId xmlns:a16="http://schemas.microsoft.com/office/drawing/2014/main" id="{1EC92728-12AD-4C4B-97F3-64CC324A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229100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6"/>
          </a:solidFill>
          <a:ln xmlns:a="http://schemas.openxmlformats.org/drawingml/2006/main" w="15240">
            <a:solidFill>
              <a:srgbClr val="8B5FA6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Qᵀ X</a:t>
            </a:r>
          </a:p>
        </p:txBody>
      </p:sp>
      <p:sp>
        <p:nvSpPr>
          <p:cNvPr id="23" name="rb_obj_128">
            <a:extLst xmlns:a="http://schemas.openxmlformats.org/drawingml/2006/main">
              <a:ext uri="{FF2B5EF4-FFF2-40B4-BE49-F238E27FC236}">
                <a16:creationId xmlns:a16="http://schemas.microsoft.com/office/drawing/2014/main" id="{C2F1B5BE-DFE6-4826-B92B-FA7DEE70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2910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6"/>
          </a:solidFill>
          <a:ln xmlns:a="http://schemas.openxmlformats.org/drawingml/2006/main" w="15240">
            <a:solidFill>
              <a:srgbClr val="8B5FA6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Radon</a:t>
            </a:r>
          </a:p>
        </p:txBody>
      </p:sp>
      <p:sp>
        <p:nvSpPr>
          <p:cNvPr id="24" name="rb_obj_129">
            <a:extLst xmlns:a="http://schemas.openxmlformats.org/drawingml/2006/main">
              <a:ext uri="{FF2B5EF4-FFF2-40B4-BE49-F238E27FC236}">
                <a16:creationId xmlns:a16="http://schemas.microsoft.com/office/drawing/2014/main" id="{6E9E402B-B67D-4F4D-86DF-7C856330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29100"/>
            <a:ext cx="1257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6"/>
          </a:solidFill>
          <a:ln xmlns:a="http://schemas.openxmlformats.org/drawingml/2006/main" w="15240">
            <a:solidFill>
              <a:srgbClr val="8B5FA6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Ordinary</a:t>
            </a:r>
          </a:p>
          <a:p xmlns:a="http://schemas.openxmlformats.org/drawingml/2006/main">
            <a:pPr algn="ctr">
              <a:defRPr sz="1725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BP</a:t>
            </a:r>
          </a:p>
        </p:txBody>
      </p:sp>
      <p:sp>
        <p:nvSpPr>
          <p:cNvPr id="25" name="rb_obj_130">
            <a:extLst xmlns:a="http://schemas.openxmlformats.org/drawingml/2006/main">
              <a:ext uri="{FF2B5EF4-FFF2-40B4-BE49-F238E27FC236}">
                <a16:creationId xmlns:a16="http://schemas.microsoft.com/office/drawing/2014/main" id="{C3485CAC-9CB7-4AE6-AD3A-5C72539F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229100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6"/>
          </a:solidFill>
          <a:ln xmlns:a="http://schemas.openxmlformats.org/drawingml/2006/main" w="15240">
            <a:solidFill>
              <a:srgbClr val="8B5FA6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Q ΔZ</a:t>
            </a:r>
          </a:p>
        </p:txBody>
      </p:sp>
      <p:sp>
        <p:nvSpPr>
          <p:cNvPr id="26" name="rb_obj_131">
            <a:extLst xmlns:a="http://schemas.openxmlformats.org/drawingml/2006/main">
              <a:ext uri="{FF2B5EF4-FFF2-40B4-BE49-F238E27FC236}">
                <a16:creationId xmlns:a16="http://schemas.microsoft.com/office/drawing/2014/main" id="{258E11A2-BC70-4A51-98AE-A9896D6A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3529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8B5FA6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cxnSp>
        <p:nvCxnSpPr>
          <p:cNvPr id="72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571625" y="45720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FA6"/>
            </a:solidFill>
            <a:prstDash val="solid"/>
            <a:tailEnd type="triangle" w="med" len="med"/>
          </a:ln>
        </p:spPr>
      </p:cxnSp>
      <p:cxnSp>
        <p:nvCxnSpPr>
          <p:cNvPr id="73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971800" y="4572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FA6"/>
            </a:solidFill>
            <a:prstDash val="solid"/>
            <a:tailEnd type="triangle" w="med" len="med"/>
          </a:ln>
        </p:spPr>
      </p:cxnSp>
      <p:cxnSp>
        <p:nvCxnSpPr>
          <p:cNvPr id="74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763000" y="457200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FA6"/>
            </a:solidFill>
            <a:prstDash val="solid"/>
            <a:tailEnd type="triangle" w="med" len="med"/>
          </a:ln>
        </p:spPr>
      </p:cxnSp>
      <p:cxnSp>
        <p:nvCxnSpPr>
          <p:cNvPr id="7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0039350" y="4572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FA6"/>
            </a:solidFill>
            <a:prstDash val="solid"/>
            <a:tailEnd type="triangle" w="med" len="med"/>
          </a:ln>
        </p:spPr>
      </p:cxnSp>
      <p:sp>
        <p:nvSpPr>
          <p:cNvPr id="31" name="rb_obj_132">
            <a:extLst xmlns:a="http://schemas.openxmlformats.org/drawingml/2006/main">
              <a:ext uri="{FF2B5EF4-FFF2-40B4-BE49-F238E27FC236}">
                <a16:creationId xmlns:a16="http://schemas.microsoft.com/office/drawing/2014/main" id="{60801944-28BE-4A6D-9937-E46D05F5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953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8B5FA6"/>
            </a:solidFill>
          </a:ln>
        </p:spPr>
      </p:sp>
      <p:sp>
        <p:nvSpPr>
          <p:cNvPr id="32" name="rb_obj_133">
            <a:extLst xmlns:a="http://schemas.openxmlformats.org/drawingml/2006/main">
              <a:ext uri="{FF2B5EF4-FFF2-40B4-BE49-F238E27FC236}">
                <a16:creationId xmlns:a16="http://schemas.microsoft.com/office/drawing/2014/main" id="{AAB702F1-C6A1-413E-B83A-5631A349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99536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8B5FA6"/>
            </a:solidFill>
          </a:ln>
        </p:spPr>
      </p:sp>
      <p:sp>
        <p:nvSpPr>
          <p:cNvPr id="33" name="rb_obj_134">
            <a:extLst xmlns:a="http://schemas.openxmlformats.org/drawingml/2006/main">
              <a:ext uri="{FF2B5EF4-FFF2-40B4-BE49-F238E27FC236}">
                <a16:creationId xmlns:a16="http://schemas.microsoft.com/office/drawing/2014/main" id="{0253B88A-8A75-4C84-ADD4-414A2BCA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791075"/>
            <a:ext cx="953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8B5FA6"/>
            </a:solidFill>
          </a:ln>
        </p:spPr>
      </p:sp>
      <p:sp>
        <p:nvSpPr>
          <p:cNvPr id="34" name="rb_obj_135">
            <a:extLst xmlns:a="http://schemas.openxmlformats.org/drawingml/2006/main">
              <a:ext uri="{FF2B5EF4-FFF2-40B4-BE49-F238E27FC236}">
                <a16:creationId xmlns:a16="http://schemas.microsoft.com/office/drawing/2014/main" id="{258AEC33-9D51-46C4-B0DC-32FC37B4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149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residual X</a:t>
            </a:r>
          </a:p>
        </p:txBody>
      </p:sp>
      <p:sp>
        <p:nvSpPr>
          <p:cNvPr id="35" name="rb_obj_136">
            <a:extLst xmlns:a="http://schemas.openxmlformats.org/drawingml/2006/main">
              <a:ext uri="{FF2B5EF4-FFF2-40B4-BE49-F238E27FC236}">
                <a16:creationId xmlns:a16="http://schemas.microsoft.com/office/drawing/2014/main" id="{FE4D154E-524E-4330-ADB2-F1E0FF5B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943475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[2B, rM, S]</a:t>
            </a:r>
          </a:p>
        </p:txBody>
      </p:sp>
      <p:sp>
        <p:nvSpPr>
          <p:cNvPr id="36" name="rb_obj_137">
            <a:extLst xmlns:a="http://schemas.openxmlformats.org/drawingml/2006/main">
              <a:ext uri="{FF2B5EF4-FFF2-40B4-BE49-F238E27FC236}">
                <a16:creationId xmlns:a16="http://schemas.microsoft.com/office/drawing/2014/main" id="{9A34D74B-146D-4D83-8256-3A36686C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09825"/>
            <a:ext cx="143827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B"/>
          </a:solidFill>
          <a:ln xmlns:a="http://schemas.openxmlformats.org/drawingml/2006/main" w="15240">
            <a:solidFill>
              <a:srgbClr val="173B4B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Conv1d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 = 3</a:t>
            </a:r>
          </a:p>
        </p:txBody>
      </p:sp>
      <p:cxnSp>
        <p:nvCxnSpPr>
          <p:cNvPr id="82" name=""/>
          <p:cNvCxnSpPr>
            <a:stCxn xmlns:a="http://schemas.openxmlformats.org/drawingml/2006/main" id="8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4591050" y="2524125"/>
            <a:ext cx="762000" cy="10048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7E87"/>
            </a:solidFill>
            <a:prstDash val="solid"/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3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6791325" y="2524125"/>
            <a:ext cx="714375" cy="10048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7E87"/>
            </a:solidFill>
            <a:prstDash val="solid"/>
            <a:tailEnd type="triangle" w="med" len="med"/>
          </a:ln>
        </p:spPr>
      </p:cxnSp>
      <p:cxnSp>
        <p:nvCxnSpPr>
          <p:cNvPr id="84" name=""/>
          <p:cNvCxnSpPr>
            <a:stCxn xmlns:a="http://schemas.openxmlformats.org/drawingml/2006/main" id="23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V="1">
            <a:off x="4591050" y="3529013"/>
            <a:ext cx="762000" cy="1042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B5FA6"/>
            </a:solidFill>
            <a:prstDash val="solid"/>
            <a:tailEnd type="triangle" w="med" len="med"/>
          </a:ln>
        </p:spPr>
      </p:cxnSp>
      <p:cxnSp>
        <p:nvCxnSpPr>
          <p:cNvPr id="85" name=""/>
          <p:cNvCxnSpPr>
            <a:stCxn xmlns:a="http://schemas.openxmlformats.org/drawingml/2006/main" id="36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6791325" y="3529013"/>
            <a:ext cx="714375" cy="1042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B5FA6"/>
            </a:solidFill>
            <a:prstDash val="solid"/>
            <a:tailEnd type="triangle" w="med" len="med"/>
          </a:ln>
        </p:spPr>
      </p:cxnSp>
      <p:sp>
        <p:nvSpPr>
          <p:cNvPr id="41" name="rb_obj_138">
            <a:extLst xmlns:a="http://schemas.openxmlformats.org/drawingml/2006/main">
              <a:ext uri="{FF2B5EF4-FFF2-40B4-BE49-F238E27FC236}">
                <a16:creationId xmlns:a16="http://schemas.microsoft.com/office/drawing/2014/main" id="{6626F7DD-466A-4FA9-ACE9-8B1C7EBE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004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concat</a:t>
            </a:r>
          </a:p>
        </p:txBody>
      </p:sp>
      <p:sp>
        <p:nvSpPr>
          <p:cNvPr id="42" name="rb_obj_139">
            <a:extLst xmlns:a="http://schemas.openxmlformats.org/drawingml/2006/main">
              <a:ext uri="{FF2B5EF4-FFF2-40B4-BE49-F238E27FC236}">
                <a16:creationId xmlns:a16="http://schemas.microsoft.com/office/drawing/2014/main" id="{A73371BC-111D-4229-BBC7-03D0CF02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004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split</a:t>
            </a:r>
          </a:p>
        </p:txBody>
      </p:sp>
      <p:sp>
        <p:nvSpPr>
          <p:cNvPr id="43" name="rb_obj_140">
            <a:extLst xmlns:a="http://schemas.openxmlformats.org/drawingml/2006/main">
              <a:ext uri="{FF2B5EF4-FFF2-40B4-BE49-F238E27FC236}">
                <a16:creationId xmlns:a16="http://schemas.microsoft.com/office/drawing/2014/main" id="{2A28579E-719C-4A77-B6DD-E7E19897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BP = ordinary backprojection</a:t>
            </a:r>
          </a:p>
        </p:txBody>
      </p:sp>
      <p:sp>
        <p:nvSpPr>
          <p:cNvPr id="44" name="rb_obj_141">
            <a:extLst xmlns:a="http://schemas.openxmlformats.org/drawingml/2006/main">
              <a:ext uri="{FF2B5EF4-FFF2-40B4-BE49-F238E27FC236}">
                <a16:creationId xmlns:a16="http://schemas.microsoft.com/office/drawing/2014/main" id="{276C6355-B5CF-4EF4-8D56-2D16381E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7435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Learnable mixer</a:t>
            </a:r>
          </a:p>
        </p:txBody>
      </p:sp>
      <p:sp>
        <p:nvSpPr>
          <p:cNvPr id="45" name="rb_obj_142">
            <a:extLst xmlns:a="http://schemas.openxmlformats.org/drawingml/2006/main">
              <a:ext uri="{FF2B5EF4-FFF2-40B4-BE49-F238E27FC236}">
                <a16:creationId xmlns:a16="http://schemas.microsoft.com/office/drawing/2014/main" id="{15DD8B66-B6B7-4ADB-B474-BF586D74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74357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Linear residual bridge</a:t>
            </a:r>
          </a:p>
        </p:txBody>
      </p:sp>
    </p:spTree>
    <p:extLst>
      <p:ext uri="{BB962C8B-B14F-4D97-AF65-F5344CB8AC3E}">
        <p14:creationId xmlns:p14="http://schemas.microsoft.com/office/powerpoint/2010/main" val="16754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b_obj_143">
            <a:extLst xmlns:a="http://schemas.openxmlformats.org/drawingml/2006/main">
              <a:ext uri="{FF2B5EF4-FFF2-40B4-BE49-F238E27FC236}">
                <a16:creationId xmlns:a16="http://schemas.microsoft.com/office/drawing/2014/main" id="{8781B09D-322D-4501-BF6C-E146DC1C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Compression controls communication width</a:t>
            </a:r>
          </a:p>
        </p:txBody>
      </p:sp>
      <p:sp>
        <p:nvSpPr>
          <p:cNvPr id="2" name="rb_obj_144">
            <a:extLst xmlns:a="http://schemas.openxmlformats.org/drawingml/2006/main">
              <a:ext uri="{FF2B5EF4-FFF2-40B4-BE49-F238E27FC236}">
                <a16:creationId xmlns:a16="http://schemas.microsoft.com/office/drawing/2014/main" id="{500F9EC3-51A3-49C3-AAA9-9F2071F7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099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ρ specifies a dimension ratio, with the same meaning across widths</a:t>
            </a:r>
          </a:p>
        </p:txBody>
      </p:sp>
      <p:sp>
        <p:nvSpPr>
          <p:cNvPr id="3" name="rb_obj_145">
            <a:extLst xmlns:a="http://schemas.openxmlformats.org/drawingml/2006/main">
              <a:ext uri="{FF2B5EF4-FFF2-40B4-BE49-F238E27FC236}">
                <a16:creationId xmlns:a16="http://schemas.microsoft.com/office/drawing/2014/main" id="{E6D6A1DA-91A9-4111-AAA4-32907CE2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</a:ln>
        </p:spPr>
      </p:sp>
      <p:sp>
        <p:nvSpPr>
          <p:cNvPr id="4" name="rb_obj_146">
            <a:extLst xmlns:a="http://schemas.openxmlformats.org/drawingml/2006/main">
              <a:ext uri="{FF2B5EF4-FFF2-40B4-BE49-F238E27FC236}">
                <a16:creationId xmlns:a16="http://schemas.microsoft.com/office/drawing/2014/main" id="{977A3FF8-7702-4706-A8AB-6BF8127E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R&amp;B  Radon Bridge</a:t>
            </a:r>
          </a:p>
        </p:txBody>
      </p:sp>
      <p:sp>
        <p:nvSpPr>
          <p:cNvPr id="5" name="rb_obj_147">
            <a:extLst xmlns:a="http://schemas.openxmlformats.org/drawingml/2006/main">
              <a:ext uri="{FF2B5EF4-FFF2-40B4-BE49-F238E27FC236}">
                <a16:creationId xmlns:a16="http://schemas.microsoft.com/office/drawing/2014/main" id="{6FEDF95A-9340-40AF-A896-F273F08D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04 / 08</a:t>
            </a:r>
          </a:p>
        </p:txBody>
      </p:sp>
      <p:sp>
        <p:nvSpPr>
          <p:cNvPr id="6" name="rb_obj_148">
            <a:extLst xmlns:a="http://schemas.openxmlformats.org/drawingml/2006/main">
              <a:ext uri="{FF2B5EF4-FFF2-40B4-BE49-F238E27FC236}">
                <a16:creationId xmlns:a16="http://schemas.microsoft.com/office/drawing/2014/main" id="{9C4FB63C-E963-4952-AF44-F22E22C1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33575"/>
            <a:ext cx="56864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</a:ln>
        </p:spPr>
      </p:sp>
      <p:sp>
        <p:nvSpPr>
          <p:cNvPr id="7" name="rb_obj_149">
            <a:extLst xmlns:a="http://schemas.openxmlformats.org/drawingml/2006/main">
              <a:ext uri="{FF2B5EF4-FFF2-40B4-BE49-F238E27FC236}">
                <a16:creationId xmlns:a16="http://schemas.microsoft.com/office/drawing/2014/main" id="{13DBB932-5927-45A4-9C46-63EA4B1C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976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B97637"/>
                </a:solidFill>
                <a:latin typeface="Helvetica Neue"/>
                <a:ea typeface="Helvetica Neue"/>
                <a:cs typeface="Helvetica Neue"/>
              </a:rPr>
              <a:t>Learned CM projection</a:t>
            </a:r>
          </a:p>
        </p:txBody>
      </p:sp>
      <p:sp>
        <p:nvSpPr>
          <p:cNvPr id="8" name="rb_obj_150">
            <a:extLst xmlns:a="http://schemas.openxmlformats.org/drawingml/2006/main">
              <a:ext uri="{FF2B5EF4-FFF2-40B4-BE49-F238E27FC236}">
                <a16:creationId xmlns:a16="http://schemas.microsoft.com/office/drawing/2014/main" id="{49FDA85F-10CA-4E01-A14D-85D5DED9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Radon → learned compression</a:t>
            </a:r>
          </a:p>
        </p:txBody>
      </p:sp>
      <p:sp>
        <p:nvSpPr>
          <p:cNvPr id="9" name="rb_obj_151">
            <a:extLst xmlns:a="http://schemas.openxmlformats.org/drawingml/2006/main">
              <a:ext uri="{FF2B5EF4-FFF2-40B4-BE49-F238E27FC236}">
                <a16:creationId xmlns:a16="http://schemas.microsoft.com/office/drawing/2014/main" id="{E82C173B-154D-43C7-A064-6859811E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9082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76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97637"/>
                </a:solidFill>
                <a:latin typeface="Helvetica Neue"/>
                <a:ea typeface="Helvetica Neue"/>
                <a:cs typeface="Helvetica Neue"/>
              </a:rPr>
              <a:t>After Radon</a:t>
            </a:r>
          </a:p>
        </p:txBody>
      </p:sp>
      <p:sp>
        <p:nvSpPr>
          <p:cNvPr id="10" name="rb_obj_152">
            <a:extLst xmlns:a="http://schemas.openxmlformats.org/drawingml/2006/main">
              <a:ext uri="{FF2B5EF4-FFF2-40B4-BE49-F238E27FC236}">
                <a16:creationId xmlns:a16="http://schemas.microsoft.com/office/drawing/2014/main" id="{884EA976-6591-486B-8B68-B551EC1A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56864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</a:ln>
        </p:spPr>
      </p:sp>
      <p:sp>
        <p:nvSpPr>
          <p:cNvPr id="11" name="rb_obj_153">
            <a:extLst xmlns:a="http://schemas.openxmlformats.org/drawingml/2006/main">
              <a:ext uri="{FF2B5EF4-FFF2-40B4-BE49-F238E27FC236}">
                <a16:creationId xmlns:a16="http://schemas.microsoft.com/office/drawing/2014/main" id="{FCA98D35-4B4E-4EAA-B85A-7B441592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Fixed channel projection</a:t>
            </a:r>
          </a:p>
        </p:txBody>
      </p:sp>
      <p:sp>
        <p:nvSpPr>
          <p:cNvPr id="12" name="rb_obj_154">
            <a:extLst xmlns:a="http://schemas.openxmlformats.org/drawingml/2006/main">
              <a:ext uri="{FF2B5EF4-FFF2-40B4-BE49-F238E27FC236}">
                <a16:creationId xmlns:a16="http://schemas.microsoft.com/office/drawing/2014/main" id="{934160A9-CD2A-41DA-8C6F-C6FA3B9D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SVD or random orthogonal Q</a:t>
            </a:r>
          </a:p>
        </p:txBody>
      </p:sp>
      <p:sp>
        <p:nvSpPr>
          <p:cNvPr id="13" name="rb_obj_155">
            <a:extLst xmlns:a="http://schemas.openxmlformats.org/drawingml/2006/main">
              <a:ext uri="{FF2B5EF4-FFF2-40B4-BE49-F238E27FC236}">
                <a16:creationId xmlns:a16="http://schemas.microsoft.com/office/drawing/2014/main" id="{A09FDCA9-B42F-47CE-9D5B-6EEF922B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528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Before Radon</a:t>
            </a:r>
          </a:p>
        </p:txBody>
      </p:sp>
      <p:sp>
        <p:nvSpPr>
          <p:cNvPr id="14" name="rb_obj_156">
            <a:extLst xmlns:a="http://schemas.openxmlformats.org/drawingml/2006/main">
              <a:ext uri="{FF2B5EF4-FFF2-40B4-BE49-F238E27FC236}">
                <a16:creationId xmlns:a16="http://schemas.microsoft.com/office/drawing/2014/main" id="{4697CDC3-8931-41D9-B2B0-64361ECF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56864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</a:ln>
        </p:spPr>
      </p:sp>
      <p:sp>
        <p:nvSpPr>
          <p:cNvPr id="15" name="rb_obj_157">
            <a:extLst xmlns:a="http://schemas.openxmlformats.org/drawingml/2006/main">
              <a:ext uri="{FF2B5EF4-FFF2-40B4-BE49-F238E27FC236}">
                <a16:creationId xmlns:a16="http://schemas.microsoft.com/office/drawing/2014/main" id="{D799C15F-80C1-4082-9CAF-8114E99D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Learned channel projection</a:t>
            </a:r>
          </a:p>
        </p:txBody>
      </p:sp>
      <p:sp>
        <p:nvSpPr>
          <p:cNvPr id="16" name="rb_obj_158">
            <a:extLst xmlns:a="http://schemas.openxmlformats.org/drawingml/2006/main">
              <a:ext uri="{FF2B5EF4-FFF2-40B4-BE49-F238E27FC236}">
                <a16:creationId xmlns:a16="http://schemas.microsoft.com/office/drawing/2014/main" id="{8B073FC3-5E7A-4214-B23F-89A4CA29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61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Independent encoder and decoder</a:t>
            </a:r>
          </a:p>
        </p:txBody>
      </p:sp>
      <p:sp>
        <p:nvSpPr>
          <p:cNvPr id="17" name="rb_obj_159">
            <a:extLst xmlns:a="http://schemas.openxmlformats.org/drawingml/2006/main">
              <a:ext uri="{FF2B5EF4-FFF2-40B4-BE49-F238E27FC236}">
                <a16:creationId xmlns:a16="http://schemas.microsoft.com/office/drawing/2014/main" id="{50968761-7B3E-434D-8CB7-066AA356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1492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Before Radon</a:t>
            </a:r>
          </a:p>
        </p:txBody>
      </p:sp>
      <p:sp>
        <p:nvSpPr>
          <p:cNvPr id="18" name="rb_obj_160">
            <a:extLst xmlns:a="http://schemas.openxmlformats.org/drawingml/2006/main">
              <a:ext uri="{FF2B5EF4-FFF2-40B4-BE49-F238E27FC236}">
                <a16:creationId xmlns:a16="http://schemas.microsoft.com/office/drawing/2014/main" id="{C4F0C4F0-3E60-4EAB-8FB2-B2072EDA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288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C = 256    M = 32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7019925" y="2419350"/>
          <a:ext xmlns:a="http://schemas.openxmlformats.org/drawingml/2006/main" cx="4429125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1476375"/>
                <a:gridCol w="1476375"/>
              </a:tblGrid>
              <a:tr h="585788"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ρ</a:t>
                      </a:r>
                    </a:p>
                  </a:txBody>
                  <a:tcPr marL="91440" marR="91440" marT="45720" marB="45720" anchor="ctr">
                    <a:solidFill>
                      <a:srgbClr val="173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</a:t>
                      </a:r>
                    </a:p>
                  </a:txBody>
                  <a:tcPr marL="91440" marR="91440" marT="45720" marB="45720" anchor="ctr">
                    <a:solidFill>
                      <a:srgbClr val="173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 = rM</a:t>
                      </a:r>
                    </a:p>
                  </a:txBody>
                  <a:tcPr marL="91440" marR="91440" marT="45720" marB="45720" anchor="ctr">
                    <a:solidFill>
                      <a:srgbClr val="173B4B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B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1/16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B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B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512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B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1/8</a:t>
                      </a:r>
                    </a:p>
                  </a:txBody>
                  <a:tcPr marL="91440" marR="91440" marT="45720" marB="45720" anchor="ctr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B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B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1024</a:t>
                      </a:r>
                    </a:p>
                  </a:txBody>
                  <a:tcPr marL="91440" marR="91440" marT="45720" marB="45720" anchor="ctr">
                    <a:solidFill>
                      <a:srgbClr val="F6F8F9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B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1/4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B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73B4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2048</a:t>
                      </a:r>
                    </a:p>
                  </a:txBody>
                  <a:tcPr marL="91440" marR="91440" marT="45720" marB="45720" anchor="ctr">
                    <a:solidFill>
                      <a:srgbClr val="EAF4F4"/>
                    </a:solidFill>
                  </a:tcPr>
                </a:tc>
              </a:tr>
            </a:tbl>
          </a:graphicData>
        </a:graphic>
      </p:graphicFrame>
      <p:sp>
        <p:nvSpPr>
          <p:cNvPr id="20" name="rb_obj_161">
            <a:extLst xmlns:a="http://schemas.openxmlformats.org/drawingml/2006/main">
              <a:ext uri="{FF2B5EF4-FFF2-40B4-BE49-F238E27FC236}">
                <a16:creationId xmlns:a16="http://schemas.microsoft.com/office/drawing/2014/main" id="{F77AF2B6-0441-45D5-BEFF-D25B142F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933950"/>
            <a:ext cx="4381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Channel ranks shown for channel projection.</a:t>
            </a:r>
          </a:p>
        </p:txBody>
      </p:sp>
      <p:sp>
        <p:nvSpPr>
          <p:cNvPr id="21" name="rb_obj_162">
            <a:extLst xmlns:a="http://schemas.openxmlformats.org/drawingml/2006/main">
              <a:ext uri="{FF2B5EF4-FFF2-40B4-BE49-F238E27FC236}">
                <a16:creationId xmlns:a16="http://schemas.microsoft.com/office/drawing/2014/main" id="{F47D2F72-D437-406A-8F1C-A32ACF51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Subspace reduction does not establish cross-modal semantic alignment.</a:t>
            </a:r>
          </a:p>
        </p:txBody>
      </p:sp>
    </p:spTree>
    <p:extLst>
      <p:ext uri="{BB962C8B-B14F-4D97-AF65-F5344CB8AC3E}">
        <p14:creationId xmlns:p14="http://schemas.microsoft.com/office/powerpoint/2010/main" val="1734911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b_obj_163">
            <a:extLst xmlns:a="http://schemas.openxmlformats.org/drawingml/2006/main">
              <a:ext uri="{FF2B5EF4-FFF2-40B4-BE49-F238E27FC236}">
                <a16:creationId xmlns:a16="http://schemas.microsoft.com/office/drawing/2014/main" id="{8BF0619E-1209-4D73-AF93-64ED5FC4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Two-stage training on paired participants</a:t>
            </a:r>
          </a:p>
        </p:txBody>
      </p:sp>
      <p:sp>
        <p:nvSpPr>
          <p:cNvPr id="2" name="rb_obj_164">
            <a:extLst xmlns:a="http://schemas.openxmlformats.org/drawingml/2006/main">
              <a:ext uri="{FF2B5EF4-FFF2-40B4-BE49-F238E27FC236}">
                <a16:creationId xmlns:a16="http://schemas.microsoft.com/office/drawing/2014/main" id="{390D4884-0F2F-4DC5-A1ED-E01F11AC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099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UKB paired CFP / OCT: the same two networks continue into joint training</a:t>
            </a:r>
          </a:p>
        </p:txBody>
      </p:sp>
      <p:sp>
        <p:nvSpPr>
          <p:cNvPr id="3" name="rb_obj_165">
            <a:extLst xmlns:a="http://schemas.openxmlformats.org/drawingml/2006/main">
              <a:ext uri="{FF2B5EF4-FFF2-40B4-BE49-F238E27FC236}">
                <a16:creationId xmlns:a16="http://schemas.microsoft.com/office/drawing/2014/main" id="{F270B8C1-8DD6-4BFB-A875-0126F9F0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</a:ln>
        </p:spPr>
      </p:sp>
      <p:sp>
        <p:nvSpPr>
          <p:cNvPr id="4" name="rb_obj_166">
            <a:extLst xmlns:a="http://schemas.openxmlformats.org/drawingml/2006/main">
              <a:ext uri="{FF2B5EF4-FFF2-40B4-BE49-F238E27FC236}">
                <a16:creationId xmlns:a16="http://schemas.microsoft.com/office/drawing/2014/main" id="{43EB19D7-F104-4CF8-BDB2-BE062ECB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R&amp;B  Radon Bridge</a:t>
            </a:r>
          </a:p>
        </p:txBody>
      </p:sp>
      <p:sp>
        <p:nvSpPr>
          <p:cNvPr id="5" name="rb_obj_167">
            <a:extLst xmlns:a="http://schemas.openxmlformats.org/drawingml/2006/main">
              <a:ext uri="{FF2B5EF4-FFF2-40B4-BE49-F238E27FC236}">
                <a16:creationId xmlns:a16="http://schemas.microsoft.com/office/drawing/2014/main" id="{5551B17E-4A73-46F6-86C0-2050933F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05 / 08</a:t>
            </a:r>
          </a:p>
        </p:txBody>
      </p:sp>
      <p:sp>
        <p:nvSpPr>
          <p:cNvPr id="6" name="rb_obj_168">
            <a:extLst xmlns:a="http://schemas.openxmlformats.org/drawingml/2006/main">
              <a:ext uri="{FF2B5EF4-FFF2-40B4-BE49-F238E27FC236}">
                <a16:creationId xmlns:a16="http://schemas.microsoft.com/office/drawing/2014/main" id="{8BBE69FA-9FBC-48C8-BE94-9D562E57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92405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rb_obj_169">
            <a:extLst xmlns:a="http://schemas.openxmlformats.org/drawingml/2006/main">
              <a:ext uri="{FF2B5EF4-FFF2-40B4-BE49-F238E27FC236}">
                <a16:creationId xmlns:a16="http://schemas.microsoft.com/office/drawing/2014/main" id="{A2793878-9512-4FAD-B31B-33691223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621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Independent supervision</a:t>
            </a:r>
          </a:p>
        </p:txBody>
      </p:sp>
      <p:sp>
        <p:nvSpPr>
          <p:cNvPr id="8" name="rb_obj_170">
            <a:extLst xmlns:a="http://schemas.openxmlformats.org/drawingml/2006/main">
              <a:ext uri="{FF2B5EF4-FFF2-40B4-BE49-F238E27FC236}">
                <a16:creationId xmlns:a16="http://schemas.microsoft.com/office/drawing/2014/main" id="{696EA445-73A5-4459-8BD2-2CCDA996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714625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5240">
            <a:solidFill>
              <a:srgbClr val="007E87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CFP network</a:t>
            </a:r>
          </a:p>
        </p:txBody>
      </p:sp>
      <p:sp>
        <p:nvSpPr>
          <p:cNvPr id="9" name="rb_obj_171">
            <a:extLst xmlns:a="http://schemas.openxmlformats.org/drawingml/2006/main">
              <a:ext uri="{FF2B5EF4-FFF2-40B4-BE49-F238E27FC236}">
                <a16:creationId xmlns:a16="http://schemas.microsoft.com/office/drawing/2014/main" id="{6F03E598-03CD-4D45-9848-1D322054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819525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6"/>
          </a:solidFill>
          <a:ln xmlns:a="http://schemas.openxmlformats.org/drawingml/2006/main" w="15240">
            <a:solidFill>
              <a:srgbClr val="8B5FA6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OCT network</a:t>
            </a:r>
          </a:p>
        </p:txBody>
      </p:sp>
      <p:sp>
        <p:nvSpPr>
          <p:cNvPr id="10" name="rb_obj_172">
            <a:extLst xmlns:a="http://schemas.openxmlformats.org/drawingml/2006/main">
              <a:ext uri="{FF2B5EF4-FFF2-40B4-BE49-F238E27FC236}">
                <a16:creationId xmlns:a16="http://schemas.microsoft.com/office/drawing/2014/main" id="{E076CD0A-DFB3-4363-9CB5-452B9BFC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95625"/>
            <a:ext cx="2286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15240">
            <a:solidFill>
              <a:srgbClr val="617480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Best CFP + OCT</a:t>
            </a:r>
          </a:p>
          <a:p xmlns:a="http://schemas.openxmlformats.org/drawingml/2006/main">
            <a:pPr algn="ctr">
              <a:defRPr sz="1875" b="1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checkpoints</a:t>
            </a:r>
          </a:p>
        </p:txBody>
      </p: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86175" y="3057525"/>
            <a:ext cx="1009650" cy="542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07E87"/>
            </a:solidFill>
            <a:prstDash val="solid"/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686175" y="3600450"/>
            <a:ext cx="1009650" cy="561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B5FA6"/>
            </a:solidFill>
            <a:prstDash val="solid"/>
            <a:tailEnd type="triangle" w="med" len="med"/>
          </a:ln>
        </p:spPr>
      </p:cxnSp>
      <p:sp>
        <p:nvSpPr>
          <p:cNvPr id="13" name="rb_obj_173">
            <a:extLst xmlns:a="http://schemas.openxmlformats.org/drawingml/2006/main">
              <a:ext uri="{FF2B5EF4-FFF2-40B4-BE49-F238E27FC236}">
                <a16:creationId xmlns:a16="http://schemas.microsoft.com/office/drawing/2014/main" id="{9A4F4E1A-315E-4857-8D73-E9121D2E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92405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B976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B9763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rb_obj_174">
            <a:extLst xmlns:a="http://schemas.openxmlformats.org/drawingml/2006/main">
              <a:ext uri="{FF2B5EF4-FFF2-40B4-BE49-F238E27FC236}">
                <a16:creationId xmlns:a16="http://schemas.microsoft.com/office/drawing/2014/main" id="{2A84B124-4D31-4CCC-95D4-57C99ECF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621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Joint finetuning</a:t>
            </a:r>
          </a:p>
        </p:txBody>
      </p:sp>
      <p:sp>
        <p:nvSpPr>
          <p:cNvPr id="15" name="rb_obj_175">
            <a:extLst xmlns:a="http://schemas.openxmlformats.org/drawingml/2006/main">
              <a:ext uri="{FF2B5EF4-FFF2-40B4-BE49-F238E27FC236}">
                <a16:creationId xmlns:a16="http://schemas.microsoft.com/office/drawing/2014/main" id="{73F0D635-0C7B-42DB-BE39-E9E26F96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095625"/>
            <a:ext cx="33813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B"/>
          </a:solidFill>
          <a:ln xmlns:a="http://schemas.openxmlformats.org/drawingml/2006/main" w="15240">
            <a:solidFill>
              <a:srgbClr val="173B4B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CFP  +  R&amp;B  +  OCT</a:t>
            </a:r>
          </a:p>
        </p:txBody>
      </p: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81825" y="3600450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480"/>
            </a:solidFill>
            <a:prstDash val="solid"/>
            <a:tailEnd type="triangle" w="med" len="med"/>
          </a:ln>
        </p:spPr>
      </p:cxnSp>
      <p:sp>
        <p:nvSpPr>
          <p:cNvPr id="17" name="rb_obj_176">
            <a:extLst xmlns:a="http://schemas.openxmlformats.org/drawingml/2006/main">
              <a:ext uri="{FF2B5EF4-FFF2-40B4-BE49-F238E27FC236}">
                <a16:creationId xmlns:a16="http://schemas.microsoft.com/office/drawing/2014/main" id="{8654B289-7095-4175-95FE-66286803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6958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Each branch reaches its own plateau</a:t>
            </a:r>
          </a:p>
        </p:txBody>
      </p:sp>
      <p:sp>
        <p:nvSpPr>
          <p:cNvPr id="18" name="rb_obj_177">
            <a:extLst xmlns:a="http://schemas.openxmlformats.org/drawingml/2006/main">
              <a:ext uri="{FF2B5EF4-FFF2-40B4-BE49-F238E27FC236}">
                <a16:creationId xmlns:a16="http://schemas.microsoft.com/office/drawing/2014/main" id="{77F43B96-CF47-46E1-A410-8547090F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695825"/>
            <a:ext cx="3895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All native parameters remain trainable</a:t>
            </a:r>
          </a:p>
        </p:txBody>
      </p:sp>
      <p:sp>
        <p:nvSpPr>
          <p:cNvPr id="19" name="rb_obj_178">
            <a:extLst xmlns:a="http://schemas.openxmlformats.org/drawingml/2006/main">
              <a:ext uri="{FF2B5EF4-FFF2-40B4-BE49-F238E27FC236}">
                <a16:creationId xmlns:a16="http://schemas.microsoft.com/office/drawing/2014/main" id="{D3231103-0D87-461F-96AA-78D6E57F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24475"/>
            <a:ext cx="11049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</a:ln>
        </p:spPr>
      </p:sp>
      <p:sp>
        <p:nvSpPr>
          <p:cNvPr id="20" name="rb_obj_179">
            <a:extLst xmlns:a="http://schemas.openxmlformats.org/drawingml/2006/main">
              <a:ext uri="{FF2B5EF4-FFF2-40B4-BE49-F238E27FC236}">
                <a16:creationId xmlns:a16="http://schemas.microsoft.com/office/drawing/2014/main" id="{EE88645E-52FF-4980-A680-612F8B66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3402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1,264 training participants</a:t>
            </a:r>
          </a:p>
        </p:txBody>
      </p:sp>
      <p:sp>
        <p:nvSpPr>
          <p:cNvPr id="21" name="rb_obj_180">
            <a:extLst xmlns:a="http://schemas.openxmlformats.org/drawingml/2006/main">
              <a:ext uri="{FF2B5EF4-FFF2-40B4-BE49-F238E27FC236}">
                <a16:creationId xmlns:a16="http://schemas.microsoft.com/office/drawing/2014/main" id="{623C82D0-C4FA-477F-B38A-1A2EE0BB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3402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296 development participants</a:t>
            </a:r>
          </a:p>
        </p:txBody>
      </p:sp>
    </p:spTree>
    <p:extLst>
      <p:ext uri="{BB962C8B-B14F-4D97-AF65-F5344CB8AC3E}">
        <p14:creationId xmlns:p14="http://schemas.microsoft.com/office/powerpoint/2010/main" val="1595450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rb_obj_181">
            <a:extLst xmlns:a="http://schemas.openxmlformats.org/drawingml/2006/main">
              <a:ext uri="{FF2B5EF4-FFF2-40B4-BE49-F238E27FC236}">
                <a16:creationId xmlns:a16="http://schemas.microsoft.com/office/drawing/2014/main" id="{9A3A112B-24F5-499F-96D8-505B2819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Experiments that test the mechanism</a:t>
            </a:r>
          </a:p>
        </p:txBody>
      </p:sp>
      <p:sp>
        <p:nvSpPr>
          <p:cNvPr id="2" name="rb_obj_182">
            <a:extLst xmlns:a="http://schemas.openxmlformats.org/drawingml/2006/main">
              <a:ext uri="{FF2B5EF4-FFF2-40B4-BE49-F238E27FC236}">
                <a16:creationId xmlns:a16="http://schemas.microsoft.com/office/drawing/2014/main" id="{294119DC-8201-4466-9B30-329A51FB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099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Matched interventions isolate specific explanations for a gain</a:t>
            </a:r>
          </a:p>
        </p:txBody>
      </p:sp>
      <p:sp>
        <p:nvSpPr>
          <p:cNvPr id="3" name="rb_obj_183">
            <a:extLst xmlns:a="http://schemas.openxmlformats.org/drawingml/2006/main">
              <a:ext uri="{FF2B5EF4-FFF2-40B4-BE49-F238E27FC236}">
                <a16:creationId xmlns:a16="http://schemas.microsoft.com/office/drawing/2014/main" id="{3EC6699F-5F3F-4E38-A5BB-B7F9561B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</a:ln>
        </p:spPr>
      </p:sp>
      <p:sp>
        <p:nvSpPr>
          <p:cNvPr id="4" name="rb_obj_184">
            <a:extLst xmlns:a="http://schemas.openxmlformats.org/drawingml/2006/main">
              <a:ext uri="{FF2B5EF4-FFF2-40B4-BE49-F238E27FC236}">
                <a16:creationId xmlns:a16="http://schemas.microsoft.com/office/drawing/2014/main" id="{F58ADF35-E9E1-4CCE-B7B9-9F5D8B0A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R&amp;B  Radon Bridge</a:t>
            </a:r>
          </a:p>
        </p:txBody>
      </p:sp>
      <p:sp>
        <p:nvSpPr>
          <p:cNvPr id="5" name="rb_obj_185">
            <a:extLst xmlns:a="http://schemas.openxmlformats.org/drawingml/2006/main">
              <a:ext uri="{FF2B5EF4-FFF2-40B4-BE49-F238E27FC236}">
                <a16:creationId xmlns:a16="http://schemas.microsoft.com/office/drawing/2014/main" id="{44887A58-A13C-4853-8762-36D5D12C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06 / 08</a:t>
            </a:r>
          </a:p>
        </p:txBody>
      </p:sp>
      <p:sp>
        <p:nvSpPr>
          <p:cNvPr id="6" name="rb_obj_186">
            <a:extLst xmlns:a="http://schemas.openxmlformats.org/drawingml/2006/main">
              <a:ext uri="{FF2B5EF4-FFF2-40B4-BE49-F238E27FC236}">
                <a16:creationId xmlns:a16="http://schemas.microsoft.com/office/drawing/2014/main" id="{FB6455FA-2A32-460C-B611-0BAEAB0F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19300"/>
            <a:ext cx="3381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Cross-source mixing</a:t>
            </a:r>
          </a:p>
        </p:txBody>
      </p:sp>
      <p:sp>
        <p:nvSpPr>
          <p:cNvPr id="7" name="rb_obj_187">
            <a:extLst xmlns:a="http://schemas.openxmlformats.org/drawingml/2006/main">
              <a:ext uri="{FF2B5EF4-FFF2-40B4-BE49-F238E27FC236}">
                <a16:creationId xmlns:a16="http://schemas.microsoft.com/office/drawing/2014/main" id="{028E2A9E-F0ED-4BA5-90DB-BFBAEDA7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57400"/>
            <a:ext cx="4505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Self-only versus full mixer</a:t>
            </a:r>
          </a:p>
        </p:txBody>
      </p:sp>
      <p:sp>
        <p:nvSpPr>
          <p:cNvPr id="8" name="rb_obj_188">
            <a:extLst xmlns:a="http://schemas.openxmlformats.org/drawingml/2006/main">
              <a:ext uri="{FF2B5EF4-FFF2-40B4-BE49-F238E27FC236}">
                <a16:creationId xmlns:a16="http://schemas.microsoft.com/office/drawing/2014/main" id="{FAE280B9-4673-4540-83B0-97ED6F86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11049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</a:ln>
        </p:spPr>
      </p:sp>
      <p:sp>
        <p:nvSpPr>
          <p:cNvPr id="9" name="rb_obj_189">
            <a:extLst xmlns:a="http://schemas.openxmlformats.org/drawingml/2006/main">
              <a:ext uri="{FF2B5EF4-FFF2-40B4-BE49-F238E27FC236}">
                <a16:creationId xmlns:a16="http://schemas.microsoft.com/office/drawing/2014/main" id="{25DB9366-5E44-4F60-A345-FB86E7A0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57525"/>
            <a:ext cx="3381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Spatial structure</a:t>
            </a:r>
          </a:p>
        </p:txBody>
      </p:sp>
      <p:sp>
        <p:nvSpPr>
          <p:cNvPr id="10" name="rb_obj_190">
            <a:extLst xmlns:a="http://schemas.openxmlformats.org/drawingml/2006/main">
              <a:ext uri="{FF2B5EF4-FFF2-40B4-BE49-F238E27FC236}">
                <a16:creationId xmlns:a16="http://schemas.microsoft.com/office/drawing/2014/main" id="{378F9AEC-E4F3-4365-B6F9-8B516A4F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95625"/>
            <a:ext cx="4505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Radon versus scrambled / resampled</a:t>
            </a:r>
          </a:p>
        </p:txBody>
      </p:sp>
      <p:sp>
        <p:nvSpPr>
          <p:cNvPr id="11" name="rb_obj_191">
            <a:extLst xmlns:a="http://schemas.openxmlformats.org/drawingml/2006/main">
              <a:ext uri="{FF2B5EF4-FFF2-40B4-BE49-F238E27FC236}">
                <a16:creationId xmlns:a16="http://schemas.microsoft.com/office/drawing/2014/main" id="{5578A867-F2E8-49AA-ABBC-98A5E54B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</a:ln>
        </p:spPr>
      </p:sp>
      <p:sp>
        <p:nvSpPr>
          <p:cNvPr id="12" name="rb_obj_192">
            <a:extLst xmlns:a="http://schemas.openxmlformats.org/drawingml/2006/main">
              <a:ext uri="{FF2B5EF4-FFF2-40B4-BE49-F238E27FC236}">
                <a16:creationId xmlns:a16="http://schemas.microsoft.com/office/drawing/2014/main" id="{9AC52662-111A-4DB0-98BE-99894DA4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095750"/>
            <a:ext cx="3381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Communication direction</a:t>
            </a:r>
          </a:p>
        </p:txBody>
      </p:sp>
      <p:sp>
        <p:nvSpPr>
          <p:cNvPr id="13" name="rb_obj_193">
            <a:extLst xmlns:a="http://schemas.openxmlformats.org/drawingml/2006/main">
              <a:ext uri="{FF2B5EF4-FFF2-40B4-BE49-F238E27FC236}">
                <a16:creationId xmlns:a16="http://schemas.microsoft.com/office/drawing/2014/main" id="{324A2AF3-04C7-4C05-A288-0F38B84B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33850"/>
            <a:ext cx="4505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Bidirectional versus one direction</a:t>
            </a:r>
          </a:p>
        </p:txBody>
      </p:sp>
      <p:sp>
        <p:nvSpPr>
          <p:cNvPr id="14" name="rb_obj_194">
            <a:extLst xmlns:a="http://schemas.openxmlformats.org/drawingml/2006/main">
              <a:ext uri="{FF2B5EF4-FFF2-40B4-BE49-F238E27FC236}">
                <a16:creationId xmlns:a16="http://schemas.microsoft.com/office/drawing/2014/main" id="{9F50CA63-5A2B-4D9F-9473-D6005B02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11049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</a:ln>
        </p:spPr>
      </p:sp>
      <p:sp>
        <p:nvSpPr>
          <p:cNvPr id="15" name="rb_obj_195">
            <a:extLst xmlns:a="http://schemas.openxmlformats.org/drawingml/2006/main">
              <a:ext uri="{FF2B5EF4-FFF2-40B4-BE49-F238E27FC236}">
                <a16:creationId xmlns:a16="http://schemas.microsoft.com/office/drawing/2014/main" id="{6470010C-4F81-4678-94F8-E37B1D53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33975"/>
            <a:ext cx="33813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Correct pairing</a:t>
            </a:r>
          </a:p>
        </p:txBody>
      </p:sp>
      <p:sp>
        <p:nvSpPr>
          <p:cNvPr id="16" name="rb_obj_196">
            <a:extLst xmlns:a="http://schemas.openxmlformats.org/drawingml/2006/main">
              <a:ext uri="{FF2B5EF4-FFF2-40B4-BE49-F238E27FC236}">
                <a16:creationId xmlns:a16="http://schemas.microsoft.com/office/drawing/2014/main" id="{9D676896-34EF-4939-9BAB-DF5B873F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72075"/>
            <a:ext cx="4505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Matched versus mismatched messages</a:t>
            </a:r>
          </a:p>
        </p:txBody>
      </p:sp>
      <p:sp>
        <p:nvSpPr>
          <p:cNvPr id="17" name="rb_obj_197">
            <a:extLst xmlns:a="http://schemas.openxmlformats.org/drawingml/2006/main">
              <a:ext uri="{FF2B5EF4-FFF2-40B4-BE49-F238E27FC236}">
                <a16:creationId xmlns:a16="http://schemas.microsoft.com/office/drawing/2014/main" id="{197E19C6-A33A-4B76-8274-E77A42E7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9812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solidFill>
              <a:srgbClr val="007E87"/>
            </a:solidFill>
          </a:ln>
        </p:spPr>
      </p:sp>
      <p:sp>
        <p:nvSpPr>
          <p:cNvPr id="18" name="rb_obj_198">
            <a:extLst xmlns:a="http://schemas.openxmlformats.org/drawingml/2006/main">
              <a:ext uri="{FF2B5EF4-FFF2-40B4-BE49-F238E27FC236}">
                <a16:creationId xmlns:a16="http://schemas.microsoft.com/office/drawing/2014/main" id="{D497055E-ABFD-4981-812D-00F9A187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812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9D4D9"/>
            </a:solidFill>
          </a:ln>
        </p:spPr>
      </p:sp>
      <p:sp>
        <p:nvSpPr>
          <p:cNvPr id="19" name="rb_obj_199">
            <a:extLst xmlns:a="http://schemas.openxmlformats.org/drawingml/2006/main">
              <a:ext uri="{FF2B5EF4-FFF2-40B4-BE49-F238E27FC236}">
                <a16:creationId xmlns:a16="http://schemas.microsoft.com/office/drawing/2014/main" id="{1148389F-358A-424F-BC53-49B8EB4C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286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C9D4D9"/>
            </a:solidFill>
          </a:ln>
        </p:spPr>
      </p:sp>
      <p:sp>
        <p:nvSpPr>
          <p:cNvPr id="20" name="rb_obj_200">
            <a:extLst xmlns:a="http://schemas.openxmlformats.org/drawingml/2006/main">
              <a:ext uri="{FF2B5EF4-FFF2-40B4-BE49-F238E27FC236}">
                <a16:creationId xmlns:a16="http://schemas.microsoft.com/office/drawing/2014/main" id="{0BE68CEA-6A18-4197-94C3-9C5BEAA2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solidFill>
              <a:srgbClr val="007E87"/>
            </a:solidFill>
          </a:ln>
        </p:spPr>
      </p:sp>
      <p:sp>
        <p:nvSpPr>
          <p:cNvPr id="21" name="rb_obj_201">
            <a:extLst xmlns:a="http://schemas.openxmlformats.org/drawingml/2006/main">
              <a:ext uri="{FF2B5EF4-FFF2-40B4-BE49-F238E27FC236}">
                <a16:creationId xmlns:a16="http://schemas.microsoft.com/office/drawing/2014/main" id="{7294A316-42E8-4E85-BF08-0E23F280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9812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solidFill>
              <a:srgbClr val="007E87"/>
            </a:solidFill>
          </a:ln>
        </p:spPr>
      </p:sp>
      <p:sp>
        <p:nvSpPr>
          <p:cNvPr id="22" name="rb_obj_202">
            <a:extLst xmlns:a="http://schemas.openxmlformats.org/drawingml/2006/main">
              <a:ext uri="{FF2B5EF4-FFF2-40B4-BE49-F238E27FC236}">
                <a16:creationId xmlns:a16="http://schemas.microsoft.com/office/drawing/2014/main" id="{CB751993-9445-4BAB-897C-B7B1D334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9812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solidFill>
              <a:srgbClr val="007E87"/>
            </a:solidFill>
          </a:ln>
        </p:spPr>
      </p:sp>
      <p:sp>
        <p:nvSpPr>
          <p:cNvPr id="23" name="rb_obj_203">
            <a:extLst xmlns:a="http://schemas.openxmlformats.org/drawingml/2006/main">
              <a:ext uri="{FF2B5EF4-FFF2-40B4-BE49-F238E27FC236}">
                <a16:creationId xmlns:a16="http://schemas.microsoft.com/office/drawing/2014/main" id="{20FDD305-83FF-42E1-AA4B-6CF29639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86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solidFill>
              <a:srgbClr val="007E87"/>
            </a:solidFill>
          </a:ln>
        </p:spPr>
      </p:sp>
      <p:sp>
        <p:nvSpPr>
          <p:cNvPr id="24" name="rb_obj_204">
            <a:extLst xmlns:a="http://schemas.openxmlformats.org/drawingml/2006/main">
              <a:ext uri="{FF2B5EF4-FFF2-40B4-BE49-F238E27FC236}">
                <a16:creationId xmlns:a16="http://schemas.microsoft.com/office/drawing/2014/main" id="{6F8E1758-14D2-40F0-BF4E-0DC48937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286000"/>
            <a:ext cx="2571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solidFill>
              <a:srgbClr val="007E87"/>
            </a:solidFill>
          </a:ln>
        </p:spPr>
      </p:sp>
      <p:sp>
        <p:nvSpPr>
          <p:cNvPr id="25" name="rb_obj_205">
            <a:extLst xmlns:a="http://schemas.openxmlformats.org/drawingml/2006/main">
              <a:ext uri="{FF2B5EF4-FFF2-40B4-BE49-F238E27FC236}">
                <a16:creationId xmlns:a16="http://schemas.microsoft.com/office/drawing/2014/main" id="{59B7C3F9-C2FC-41CD-92B5-3F80B899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4312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vs</a:t>
            </a:r>
          </a:p>
        </p:txBody>
      </p:sp>
      <p:sp>
        <p:nvSpPr>
          <p:cNvPr id="26" name="rb_obj_206">
            <a:extLst xmlns:a="http://schemas.openxmlformats.org/drawingml/2006/main">
              <a:ext uri="{FF2B5EF4-FFF2-40B4-BE49-F238E27FC236}">
                <a16:creationId xmlns:a16="http://schemas.microsoft.com/office/drawing/2014/main" id="{85742EB8-138E-4CED-AF37-40277ADA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670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9525">
            <a:noFill/>
          </a:ln>
        </p:spPr>
      </p:sp>
      <p:sp>
        <p:nvSpPr>
          <p:cNvPr id="27" name="rb_obj_207">
            <a:extLst xmlns:a="http://schemas.openxmlformats.org/drawingml/2006/main">
              <a:ext uri="{FF2B5EF4-FFF2-40B4-BE49-F238E27FC236}">
                <a16:creationId xmlns:a16="http://schemas.microsoft.com/office/drawing/2014/main" id="{52D13D3A-D994-4447-ABCF-E51E70D6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670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noFill/>
          </a:ln>
        </p:spPr>
      </p:sp>
      <p:sp>
        <p:nvSpPr>
          <p:cNvPr id="28" name="rb_obj_208">
            <a:extLst xmlns:a="http://schemas.openxmlformats.org/drawingml/2006/main">
              <a:ext uri="{FF2B5EF4-FFF2-40B4-BE49-F238E27FC236}">
                <a16:creationId xmlns:a16="http://schemas.microsoft.com/office/drawing/2014/main" id="{6FC9A99F-BE59-44A6-AD65-46EDB390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219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noFill/>
          </a:ln>
        </p:spPr>
      </p:sp>
      <p:sp>
        <p:nvSpPr>
          <p:cNvPr id="29" name="rb_obj_209">
            <a:extLst xmlns:a="http://schemas.openxmlformats.org/drawingml/2006/main">
              <a:ext uri="{FF2B5EF4-FFF2-40B4-BE49-F238E27FC236}">
                <a16:creationId xmlns:a16="http://schemas.microsoft.com/office/drawing/2014/main" id="{13BF3176-3312-402A-9C16-EE3B2E00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19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9525">
            <a:noFill/>
          </a:ln>
        </p:spPr>
      </p:sp>
      <p:sp>
        <p:nvSpPr>
          <p:cNvPr id="30" name="rb_obj_210">
            <a:extLst xmlns:a="http://schemas.openxmlformats.org/drawingml/2006/main">
              <a:ext uri="{FF2B5EF4-FFF2-40B4-BE49-F238E27FC236}">
                <a16:creationId xmlns:a16="http://schemas.microsoft.com/office/drawing/2014/main" id="{3BDE2C97-A1AD-4415-9B00-D540ED5E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371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9525">
            <a:noFill/>
          </a:ln>
        </p:spPr>
      </p:sp>
      <p:sp>
        <p:nvSpPr>
          <p:cNvPr id="31" name="rb_obj_211">
            <a:extLst xmlns:a="http://schemas.openxmlformats.org/drawingml/2006/main">
              <a:ext uri="{FF2B5EF4-FFF2-40B4-BE49-F238E27FC236}">
                <a16:creationId xmlns:a16="http://schemas.microsoft.com/office/drawing/2014/main" id="{B2B2A862-9919-473B-B57B-37531C71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71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noFill/>
          </a:ln>
        </p:spPr>
      </p:sp>
      <p:sp>
        <p:nvSpPr>
          <p:cNvPr id="32" name="rb_obj_212">
            <a:extLst xmlns:a="http://schemas.openxmlformats.org/drawingml/2006/main">
              <a:ext uri="{FF2B5EF4-FFF2-40B4-BE49-F238E27FC236}">
                <a16:creationId xmlns:a16="http://schemas.microsoft.com/office/drawing/2014/main" id="{12BC31DA-F594-47C0-AB73-CED9A3C9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5242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noFill/>
          </a:ln>
        </p:spPr>
      </p:sp>
      <p:sp>
        <p:nvSpPr>
          <p:cNvPr id="33" name="rb_obj_213">
            <a:extLst xmlns:a="http://schemas.openxmlformats.org/drawingml/2006/main">
              <a:ext uri="{FF2B5EF4-FFF2-40B4-BE49-F238E27FC236}">
                <a16:creationId xmlns:a16="http://schemas.microsoft.com/office/drawing/2014/main" id="{70752E1A-2B54-41D6-9C14-2FE7BA81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242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9525">
            <a:noFill/>
          </a:ln>
        </p:spPr>
      </p:sp>
      <p:sp>
        <p:nvSpPr>
          <p:cNvPr id="34" name="rb_obj_214">
            <a:extLst xmlns:a="http://schemas.openxmlformats.org/drawingml/2006/main">
              <a:ext uri="{FF2B5EF4-FFF2-40B4-BE49-F238E27FC236}">
                <a16:creationId xmlns:a16="http://schemas.microsoft.com/office/drawing/2014/main" id="{5BE11E04-D8F1-475C-9DF4-2D523843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670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noFill/>
          </a:ln>
        </p:spPr>
      </p:sp>
      <p:sp>
        <p:nvSpPr>
          <p:cNvPr id="35" name="rb_obj_215">
            <a:extLst xmlns:a="http://schemas.openxmlformats.org/drawingml/2006/main">
              <a:ext uri="{FF2B5EF4-FFF2-40B4-BE49-F238E27FC236}">
                <a16:creationId xmlns:a16="http://schemas.microsoft.com/office/drawing/2014/main" id="{ACE309F7-1382-4C5D-AD6B-88210E3F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0670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9525">
            <a:noFill/>
          </a:ln>
        </p:spPr>
      </p:sp>
      <p:sp>
        <p:nvSpPr>
          <p:cNvPr id="36" name="rb_obj_216">
            <a:extLst xmlns:a="http://schemas.openxmlformats.org/drawingml/2006/main">
              <a:ext uri="{FF2B5EF4-FFF2-40B4-BE49-F238E27FC236}">
                <a16:creationId xmlns:a16="http://schemas.microsoft.com/office/drawing/2014/main" id="{79D17A9B-7660-4ACD-861F-A5239BAC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219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9525">
            <a:noFill/>
          </a:ln>
        </p:spPr>
      </p:sp>
      <p:sp>
        <p:nvSpPr>
          <p:cNvPr id="37" name="rb_obj_217">
            <a:extLst xmlns:a="http://schemas.openxmlformats.org/drawingml/2006/main">
              <a:ext uri="{FF2B5EF4-FFF2-40B4-BE49-F238E27FC236}">
                <a16:creationId xmlns:a16="http://schemas.microsoft.com/office/drawing/2014/main" id="{9099E774-953D-4038-9DD9-CAC89FAE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219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noFill/>
          </a:ln>
        </p:spPr>
      </p:sp>
      <p:sp>
        <p:nvSpPr>
          <p:cNvPr id="38" name="rb_obj_218">
            <a:extLst xmlns:a="http://schemas.openxmlformats.org/drawingml/2006/main">
              <a:ext uri="{FF2B5EF4-FFF2-40B4-BE49-F238E27FC236}">
                <a16:creationId xmlns:a16="http://schemas.microsoft.com/office/drawing/2014/main" id="{47B3FFD4-001A-4876-8433-82849367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371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noFill/>
          </a:ln>
        </p:spPr>
      </p:sp>
      <p:sp>
        <p:nvSpPr>
          <p:cNvPr id="39" name="rb_obj_219">
            <a:extLst xmlns:a="http://schemas.openxmlformats.org/drawingml/2006/main">
              <a:ext uri="{FF2B5EF4-FFF2-40B4-BE49-F238E27FC236}">
                <a16:creationId xmlns:a16="http://schemas.microsoft.com/office/drawing/2014/main" id="{9F8E4E82-9A2E-4811-A1E6-9B5D5B73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371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9525">
            <a:noFill/>
          </a:ln>
        </p:spPr>
      </p:sp>
      <p:sp>
        <p:nvSpPr>
          <p:cNvPr id="40" name="rb_obj_220">
            <a:extLst xmlns:a="http://schemas.openxmlformats.org/drawingml/2006/main">
              <a:ext uri="{FF2B5EF4-FFF2-40B4-BE49-F238E27FC236}">
                <a16:creationId xmlns:a16="http://schemas.microsoft.com/office/drawing/2014/main" id="{D18A86F2-CE1F-4C47-A7BF-DD8AFCD3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5242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9525">
            <a:noFill/>
          </a:ln>
        </p:spPr>
      </p:sp>
      <p:sp>
        <p:nvSpPr>
          <p:cNvPr id="41" name="rb_obj_221">
            <a:extLst xmlns:a="http://schemas.openxmlformats.org/drawingml/2006/main">
              <a:ext uri="{FF2B5EF4-FFF2-40B4-BE49-F238E27FC236}">
                <a16:creationId xmlns:a16="http://schemas.microsoft.com/office/drawing/2014/main" id="{598E9BFD-4B5F-4D79-8270-180D1802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5242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noFill/>
          </a:ln>
        </p:spPr>
      </p:sp>
      <p:sp>
        <p:nvSpPr>
          <p:cNvPr id="42" name="rb_obj_222">
            <a:extLst xmlns:a="http://schemas.openxmlformats.org/drawingml/2006/main">
              <a:ext uri="{FF2B5EF4-FFF2-40B4-BE49-F238E27FC236}">
                <a16:creationId xmlns:a16="http://schemas.microsoft.com/office/drawing/2014/main" id="{BD3548A0-0D9F-403D-8967-FA5C7210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670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9525">
            <a:noFill/>
          </a:ln>
        </p:spPr>
      </p:sp>
      <p:sp>
        <p:nvSpPr>
          <p:cNvPr id="43" name="rb_obj_223">
            <a:extLst xmlns:a="http://schemas.openxmlformats.org/drawingml/2006/main">
              <a:ext uri="{FF2B5EF4-FFF2-40B4-BE49-F238E27FC236}">
                <a16:creationId xmlns:a16="http://schemas.microsoft.com/office/drawing/2014/main" id="{0EFA2C7D-4B02-485D-8718-25D91288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0670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9525">
            <a:noFill/>
          </a:ln>
        </p:spPr>
      </p:sp>
      <p:sp>
        <p:nvSpPr>
          <p:cNvPr id="44" name="rb_obj_224">
            <a:extLst xmlns:a="http://schemas.openxmlformats.org/drawingml/2006/main">
              <a:ext uri="{FF2B5EF4-FFF2-40B4-BE49-F238E27FC236}">
                <a16:creationId xmlns:a16="http://schemas.microsoft.com/office/drawing/2014/main" id="{CCC4344B-02EF-4B17-A2EA-B5187741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19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noFill/>
          </a:ln>
        </p:spPr>
      </p:sp>
      <p:sp>
        <p:nvSpPr>
          <p:cNvPr id="45" name="rb_obj_225">
            <a:extLst xmlns:a="http://schemas.openxmlformats.org/drawingml/2006/main">
              <a:ext uri="{FF2B5EF4-FFF2-40B4-BE49-F238E27FC236}">
                <a16:creationId xmlns:a16="http://schemas.microsoft.com/office/drawing/2014/main" id="{7A127F55-FFB4-429D-BB2C-2FDD22D4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19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9525">
            <a:noFill/>
          </a:ln>
        </p:spPr>
      </p:sp>
      <p:sp>
        <p:nvSpPr>
          <p:cNvPr id="46" name="rb_obj_226">
            <a:extLst xmlns:a="http://schemas.openxmlformats.org/drawingml/2006/main">
              <a:ext uri="{FF2B5EF4-FFF2-40B4-BE49-F238E27FC236}">
                <a16:creationId xmlns:a16="http://schemas.microsoft.com/office/drawing/2014/main" id="{6E6EEF41-7EF3-47D9-AEDD-39B1E68E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71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9525">
            <a:noFill/>
          </a:ln>
        </p:spPr>
      </p:sp>
      <p:sp>
        <p:nvSpPr>
          <p:cNvPr id="47" name="rb_obj_227">
            <a:extLst xmlns:a="http://schemas.openxmlformats.org/drawingml/2006/main">
              <a:ext uri="{FF2B5EF4-FFF2-40B4-BE49-F238E27FC236}">
                <a16:creationId xmlns:a16="http://schemas.microsoft.com/office/drawing/2014/main" id="{1B94830F-1EC4-41F4-81C8-405A8415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371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noFill/>
          </a:ln>
        </p:spPr>
      </p:sp>
      <p:sp>
        <p:nvSpPr>
          <p:cNvPr id="48" name="rb_obj_228">
            <a:extLst xmlns:a="http://schemas.openxmlformats.org/drawingml/2006/main">
              <a:ext uri="{FF2B5EF4-FFF2-40B4-BE49-F238E27FC236}">
                <a16:creationId xmlns:a16="http://schemas.microsoft.com/office/drawing/2014/main" id="{69BEEA76-A9E8-406D-9DB9-33F262CF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242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noFill/>
          </a:ln>
        </p:spPr>
      </p:sp>
      <p:sp>
        <p:nvSpPr>
          <p:cNvPr id="49" name="rb_obj_229">
            <a:extLst xmlns:a="http://schemas.openxmlformats.org/drawingml/2006/main">
              <a:ext uri="{FF2B5EF4-FFF2-40B4-BE49-F238E27FC236}">
                <a16:creationId xmlns:a16="http://schemas.microsoft.com/office/drawing/2014/main" id="{5E389CFE-393F-4076-A77E-6EC6F74A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5242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9525">
            <a:noFill/>
          </a:ln>
        </p:spPr>
      </p:sp>
      <p:sp>
        <p:nvSpPr>
          <p:cNvPr id="50" name="rb_obj_230">
            <a:extLst xmlns:a="http://schemas.openxmlformats.org/drawingml/2006/main">
              <a:ext uri="{FF2B5EF4-FFF2-40B4-BE49-F238E27FC236}">
                <a16:creationId xmlns:a16="http://schemas.microsoft.com/office/drawing/2014/main" id="{347F6000-4C8B-4C05-9654-08C9AE35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670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noFill/>
          </a:ln>
        </p:spPr>
      </p:sp>
      <p:sp>
        <p:nvSpPr>
          <p:cNvPr id="51" name="rb_obj_231">
            <a:extLst xmlns:a="http://schemas.openxmlformats.org/drawingml/2006/main">
              <a:ext uri="{FF2B5EF4-FFF2-40B4-BE49-F238E27FC236}">
                <a16:creationId xmlns:a16="http://schemas.microsoft.com/office/drawing/2014/main" id="{FCEA3B2F-5556-4937-88EB-2E618349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0670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noFill/>
          </a:ln>
        </p:spPr>
      </p:sp>
      <p:sp>
        <p:nvSpPr>
          <p:cNvPr id="52" name="rb_obj_232">
            <a:extLst xmlns:a="http://schemas.openxmlformats.org/drawingml/2006/main">
              <a:ext uri="{FF2B5EF4-FFF2-40B4-BE49-F238E27FC236}">
                <a16:creationId xmlns:a16="http://schemas.microsoft.com/office/drawing/2014/main" id="{13CEBC6C-0561-45DB-8ADF-C45103D3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19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9525">
            <a:noFill/>
          </a:ln>
        </p:spPr>
      </p:sp>
      <p:sp>
        <p:nvSpPr>
          <p:cNvPr id="53" name="rb_obj_233">
            <a:extLst xmlns:a="http://schemas.openxmlformats.org/drawingml/2006/main">
              <a:ext uri="{FF2B5EF4-FFF2-40B4-BE49-F238E27FC236}">
                <a16:creationId xmlns:a16="http://schemas.microsoft.com/office/drawing/2014/main" id="{8D22390E-B53F-460F-AE11-1BEA91B7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219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9525">
            <a:noFill/>
          </a:ln>
        </p:spPr>
      </p:sp>
      <p:sp>
        <p:nvSpPr>
          <p:cNvPr id="54" name="rb_obj_234">
            <a:extLst xmlns:a="http://schemas.openxmlformats.org/drawingml/2006/main">
              <a:ext uri="{FF2B5EF4-FFF2-40B4-BE49-F238E27FC236}">
                <a16:creationId xmlns:a16="http://schemas.microsoft.com/office/drawing/2014/main" id="{6F6683F9-61C3-4776-AA80-78A11CFE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371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noFill/>
          </a:ln>
        </p:spPr>
      </p:sp>
      <p:sp>
        <p:nvSpPr>
          <p:cNvPr id="55" name="rb_obj_235">
            <a:extLst xmlns:a="http://schemas.openxmlformats.org/drawingml/2006/main">
              <a:ext uri="{FF2B5EF4-FFF2-40B4-BE49-F238E27FC236}">
                <a16:creationId xmlns:a16="http://schemas.microsoft.com/office/drawing/2014/main" id="{E5768BF8-8F10-441E-9CD6-E8535F52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3718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9525">
            <a:noFill/>
          </a:ln>
        </p:spPr>
      </p:sp>
      <p:sp>
        <p:nvSpPr>
          <p:cNvPr id="56" name="rb_obj_236">
            <a:extLst xmlns:a="http://schemas.openxmlformats.org/drawingml/2006/main">
              <a:ext uri="{FF2B5EF4-FFF2-40B4-BE49-F238E27FC236}">
                <a16:creationId xmlns:a16="http://schemas.microsoft.com/office/drawing/2014/main" id="{030501AC-E92B-4321-AA3B-9FF89023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5242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9525">
            <a:noFill/>
          </a:ln>
        </p:spPr>
      </p:sp>
      <p:sp>
        <p:nvSpPr>
          <p:cNvPr id="57" name="rb_obj_237">
            <a:extLst xmlns:a="http://schemas.openxmlformats.org/drawingml/2006/main">
              <a:ext uri="{FF2B5EF4-FFF2-40B4-BE49-F238E27FC236}">
                <a16:creationId xmlns:a16="http://schemas.microsoft.com/office/drawing/2014/main" id="{915D9DFC-1D6A-4F74-AE50-A16D2538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5242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E87"/>
          </a:solidFill>
          <a:ln xmlns:a="http://schemas.openxmlformats.org/drawingml/2006/main" w="9525">
            <a:noFill/>
          </a:ln>
        </p:spPr>
      </p:sp>
      <p:sp>
        <p:nvSpPr>
          <p:cNvPr id="58" name="rb_obj_238">
            <a:extLst xmlns:a="http://schemas.openxmlformats.org/drawingml/2006/main">
              <a:ext uri="{FF2B5EF4-FFF2-40B4-BE49-F238E27FC236}">
                <a16:creationId xmlns:a16="http://schemas.microsoft.com/office/drawing/2014/main" id="{18F7F9BC-9FD3-45FD-B3D9-828E7C82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004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vs</a:t>
            </a:r>
          </a:p>
        </p:txBody>
      </p:sp>
      <p:sp>
        <p:nvSpPr>
          <p:cNvPr id="59" name="rb_obj_239">
            <a:extLst xmlns:a="http://schemas.openxmlformats.org/drawingml/2006/main">
              <a:ext uri="{FF2B5EF4-FFF2-40B4-BE49-F238E27FC236}">
                <a16:creationId xmlns:a16="http://schemas.microsoft.com/office/drawing/2014/main" id="{1A2CE410-5E00-4FA0-8500-56D5C025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162425"/>
            <a:ext cx="552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5240">
            <a:solidFill>
              <a:srgbClr val="007E87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60" name="rb_obj_240">
            <a:extLst xmlns:a="http://schemas.openxmlformats.org/drawingml/2006/main">
              <a:ext uri="{FF2B5EF4-FFF2-40B4-BE49-F238E27FC236}">
                <a16:creationId xmlns:a16="http://schemas.microsoft.com/office/drawing/2014/main" id="{34D9F9A0-9D19-47CD-8761-AD387D64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162425"/>
            <a:ext cx="552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6"/>
          </a:solidFill>
          <a:ln xmlns:a="http://schemas.openxmlformats.org/drawingml/2006/main" w="15240">
            <a:solidFill>
              <a:srgbClr val="8B5FA6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O</a:t>
            </a:r>
          </a:p>
        </p:txBody>
      </p:sp>
      <p:cxnSp>
        <p:nvCxnSpPr>
          <p:cNvPr id="125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4733925" y="4367213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480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62" name="rb_obj_241">
            <a:extLst xmlns:a="http://schemas.openxmlformats.org/drawingml/2006/main">
              <a:ext uri="{FF2B5EF4-FFF2-40B4-BE49-F238E27FC236}">
                <a16:creationId xmlns:a16="http://schemas.microsoft.com/office/drawing/2014/main" id="{6216DCEE-7383-416C-A8C6-C644CDC5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1970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5240">
            <a:solidFill>
              <a:srgbClr val="007E87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63" name="rb_obj_242">
            <a:extLst xmlns:a="http://schemas.openxmlformats.org/drawingml/2006/main">
              <a:ext uri="{FF2B5EF4-FFF2-40B4-BE49-F238E27FC236}">
                <a16:creationId xmlns:a16="http://schemas.microsoft.com/office/drawing/2014/main" id="{3C8F29D2-5FB9-43F1-989A-6679339E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5219700"/>
            <a:ext cx="552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F6"/>
          </a:solidFill>
          <a:ln xmlns:a="http://schemas.openxmlformats.org/drawingml/2006/main" w="15240">
            <a:solidFill>
              <a:srgbClr val="8B5FA6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8B5FA6"/>
                </a:solidFill>
                <a:latin typeface="Helvetica Neue"/>
                <a:ea typeface="Helvetica Neue"/>
                <a:cs typeface="Helvetica Neue"/>
              </a:rPr>
              <a:t>O′</a:t>
            </a:r>
          </a:p>
        </p:txBody>
      </p:sp>
      <p:cxnSp>
        <p:nvCxnSpPr>
          <p:cNvPr id="128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4743450" y="5429250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480"/>
            </a:solidFill>
            <a:prstDash val="dash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5352225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b_obj_243">
            <a:extLst xmlns:a="http://schemas.openxmlformats.org/drawingml/2006/main">
              <a:ext uri="{FF2B5EF4-FFF2-40B4-BE49-F238E27FC236}">
                <a16:creationId xmlns:a16="http://schemas.microsoft.com/office/drawing/2014/main" id="{CC27F2EF-3D86-4955-B06B-5AD01B12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Study map</a:t>
            </a:r>
          </a:p>
        </p:txBody>
      </p:sp>
      <p:sp>
        <p:nvSpPr>
          <p:cNvPr id="2" name="rb_obj_244">
            <a:extLst xmlns:a="http://schemas.openxmlformats.org/drawingml/2006/main">
              <a:ext uri="{FF2B5EF4-FFF2-40B4-BE49-F238E27FC236}">
                <a16:creationId xmlns:a16="http://schemas.microsoft.com/office/drawing/2014/main" id="{62128074-8F97-4072-AADB-9A17C65A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099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186 completed results, followed by two separate validation studies</a:t>
            </a:r>
          </a:p>
        </p:txBody>
      </p:sp>
      <p:sp>
        <p:nvSpPr>
          <p:cNvPr id="3" name="rb_obj_245">
            <a:extLst xmlns:a="http://schemas.openxmlformats.org/drawingml/2006/main">
              <a:ext uri="{FF2B5EF4-FFF2-40B4-BE49-F238E27FC236}">
                <a16:creationId xmlns:a16="http://schemas.microsoft.com/office/drawing/2014/main" id="{63502099-353B-4CB0-8630-E2673F71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</a:ln>
        </p:spPr>
      </p:sp>
      <p:sp>
        <p:nvSpPr>
          <p:cNvPr id="4" name="rb_obj_246">
            <a:extLst xmlns:a="http://schemas.openxmlformats.org/drawingml/2006/main">
              <a:ext uri="{FF2B5EF4-FFF2-40B4-BE49-F238E27FC236}">
                <a16:creationId xmlns:a16="http://schemas.microsoft.com/office/drawing/2014/main" id="{21EC70E9-3C3E-422D-81B7-4A4BAC87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R&amp;B  Radon Bridge</a:t>
            </a:r>
          </a:p>
        </p:txBody>
      </p:sp>
      <p:sp>
        <p:nvSpPr>
          <p:cNvPr id="5" name="rb_obj_247">
            <a:extLst xmlns:a="http://schemas.openxmlformats.org/drawingml/2006/main">
              <a:ext uri="{FF2B5EF4-FFF2-40B4-BE49-F238E27FC236}">
                <a16:creationId xmlns:a16="http://schemas.microsoft.com/office/drawing/2014/main" id="{A7B0AC07-131A-4899-A8FB-0C84533C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07 / 08</a:t>
            </a:r>
          </a:p>
        </p:txBody>
      </p:sp>
      <p:sp>
        <p:nvSpPr>
          <p:cNvPr id="6" name="rb_obj_248">
            <a:extLst xmlns:a="http://schemas.openxmlformats.org/drawingml/2006/main">
              <a:ext uri="{FF2B5EF4-FFF2-40B4-BE49-F238E27FC236}">
                <a16:creationId xmlns:a16="http://schemas.microsoft.com/office/drawing/2014/main" id="{A8DF2DB2-B316-4B33-8CBD-1FD9C588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09825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5240">
            <a:solidFill>
              <a:srgbClr val="007E87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129</a:t>
            </a:r>
          </a:p>
        </p:txBody>
      </p:sp>
      <p:sp>
        <p:nvSpPr>
          <p:cNvPr id="7" name="rb_obj_249">
            <a:extLst xmlns:a="http://schemas.openxmlformats.org/drawingml/2006/main">
              <a:ext uri="{FF2B5EF4-FFF2-40B4-BE49-F238E27FC236}">
                <a16:creationId xmlns:a16="http://schemas.microsoft.com/office/drawing/2014/main" id="{C36BA01D-018E-418E-9F5A-831817E6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409825"/>
            <a:ext cx="247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4"/>
          </a:solidFill>
          <a:ln xmlns:a="http://schemas.openxmlformats.org/drawingml/2006/main" w="15240">
            <a:solidFill>
              <a:srgbClr val="007E87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+57</a:t>
            </a:r>
          </a:p>
        </p:txBody>
      </p:sp>
      <p:sp>
        <p:nvSpPr>
          <p:cNvPr id="8" name="rb_obj_250">
            <a:extLst xmlns:a="http://schemas.openxmlformats.org/drawingml/2006/main">
              <a:ext uri="{FF2B5EF4-FFF2-40B4-BE49-F238E27FC236}">
                <a16:creationId xmlns:a16="http://schemas.microsoft.com/office/drawing/2014/main" id="{07477CF4-0051-4B83-BB92-E7522E39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09825"/>
            <a:ext cx="2590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B"/>
          </a:solidFill>
          <a:ln xmlns:a="http://schemas.openxmlformats.org/drawingml/2006/main" w="15240">
            <a:solidFill>
              <a:srgbClr val="173B4B"/>
            </a:solidFill>
          </a:ln>
        </p:spPr>
        <p:txBody>
          <a:bodyPr xmlns:a="http://schemas.openxmlformats.org/drawingml/2006/main" lIns="66675" tIns="38100" rIns="666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82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186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28975" y="28860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480"/>
            </a:solidFill>
            <a:prstDash val="solid"/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753225" y="2886075"/>
            <a:ext cx="1924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17480"/>
            </a:solidFill>
            <a:prstDash val="solid"/>
            <a:tailEnd type="triangle" w="med" len="med"/>
          </a:ln>
        </p:spPr>
      </p:cxnSp>
      <p:sp>
        <p:nvSpPr>
          <p:cNvPr id="11" name="rb_obj_251">
            <a:extLst xmlns:a="http://schemas.openxmlformats.org/drawingml/2006/main">
              <a:ext uri="{FF2B5EF4-FFF2-40B4-BE49-F238E27FC236}">
                <a16:creationId xmlns:a16="http://schemas.microsoft.com/office/drawing/2014/main" id="{8E051A80-E4A0-4BEA-BE12-26A79395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956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Compression choices</a:t>
            </a:r>
          </a:p>
          <a:p xmlns:a="http://schemas.openxmlformats.org/drawingml/2006/main">
            <a:pPr algn="ctr">
              <a:defRPr sz="1725" b="0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and mechanism controls</a:t>
            </a:r>
          </a:p>
        </p:txBody>
      </p:sp>
      <p:sp>
        <p:nvSpPr>
          <p:cNvPr id="12" name="rb_obj_252">
            <a:extLst xmlns:a="http://schemas.openxmlformats.org/drawingml/2006/main">
              <a:ext uri="{FF2B5EF4-FFF2-40B4-BE49-F238E27FC236}">
                <a16:creationId xmlns:a16="http://schemas.microsoft.com/office/drawing/2014/main" id="{820A8D57-E187-4A0C-9C82-7C5FBB2C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95675"/>
            <a:ext cx="2886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Direction controls</a:t>
            </a:r>
          </a:p>
          <a:p xmlns:a="http://schemas.openxmlformats.org/drawingml/2006/main">
            <a:pPr algn="ctr">
              <a:defRPr sz="1725" b="0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MMTM + cross-attention</a:t>
            </a:r>
          </a:p>
        </p:txBody>
      </p:sp>
      <p:sp>
        <p:nvSpPr>
          <p:cNvPr id="13" name="rb_obj_253">
            <a:extLst xmlns:a="http://schemas.openxmlformats.org/drawingml/2006/main">
              <a:ext uri="{FF2B5EF4-FFF2-40B4-BE49-F238E27FC236}">
                <a16:creationId xmlns:a16="http://schemas.microsoft.com/office/drawing/2014/main" id="{3901C780-19B5-46B4-AE60-42AA4F8B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95675"/>
            <a:ext cx="2657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Completed study</a:t>
            </a:r>
          </a:p>
        </p:txBody>
      </p:sp>
      <p:sp>
        <p:nvSpPr>
          <p:cNvPr id="14" name="rb_obj_254">
            <a:extLst xmlns:a="http://schemas.openxmlformats.org/drawingml/2006/main">
              <a:ext uri="{FF2B5EF4-FFF2-40B4-BE49-F238E27FC236}">
                <a16:creationId xmlns:a16="http://schemas.microsoft.com/office/drawing/2014/main" id="{4BF0D08A-B366-43EB-A3A8-C8CF2B08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52925"/>
            <a:ext cx="11049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</a:ln>
        </p:spPr>
      </p:sp>
      <p:sp>
        <p:nvSpPr>
          <p:cNvPr id="15" name="rb_obj_255">
            <a:extLst xmlns:a="http://schemas.openxmlformats.org/drawingml/2006/main">
              <a:ext uri="{FF2B5EF4-FFF2-40B4-BE49-F238E27FC236}">
                <a16:creationId xmlns:a16="http://schemas.microsoft.com/office/drawing/2014/main" id="{45E87D0A-00DC-4F13-BD15-39AC6B8E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76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97637"/>
                </a:solidFill>
                <a:latin typeface="Helvetica Neue"/>
                <a:ea typeface="Helvetica Neue"/>
                <a:cs typeface="Helvetica Neue"/>
              </a:rPr>
              <a:t>NEXT A</a:t>
            </a:r>
          </a:p>
        </p:txBody>
      </p:sp>
      <p:sp>
        <p:nvSpPr>
          <p:cNvPr id="16" name="rb_obj_256">
            <a:extLst xmlns:a="http://schemas.openxmlformats.org/drawingml/2006/main">
              <a:ext uri="{FF2B5EF4-FFF2-40B4-BE49-F238E27FC236}">
                <a16:creationId xmlns:a16="http://schemas.microsoft.com/office/drawing/2014/main" id="{F115712E-9732-491D-8AFE-9785E75E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52950"/>
            <a:ext cx="4743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+18 QR controls</a:t>
            </a:r>
          </a:p>
        </p:txBody>
      </p:sp>
      <p:sp>
        <p:nvSpPr>
          <p:cNvPr id="17" name="rb_obj_257">
            <a:extLst xmlns:a="http://schemas.openxmlformats.org/drawingml/2006/main">
              <a:ext uri="{FF2B5EF4-FFF2-40B4-BE49-F238E27FC236}">
                <a16:creationId xmlns:a16="http://schemas.microsoft.com/office/drawing/2014/main" id="{CACE155A-52A1-435C-84A5-27FB20B7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8635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Self-only and spatial scrambling</a:t>
            </a:r>
          </a:p>
        </p:txBody>
      </p:sp>
      <p:sp>
        <p:nvSpPr>
          <p:cNvPr id="18" name="rb_obj_258">
            <a:extLst xmlns:a="http://schemas.openxmlformats.org/drawingml/2006/main">
              <a:ext uri="{FF2B5EF4-FFF2-40B4-BE49-F238E27FC236}">
                <a16:creationId xmlns:a16="http://schemas.microsoft.com/office/drawing/2014/main" id="{E1EDA715-8F1D-4AED-AC7B-74A7EBCA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77202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B976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97637"/>
                </a:solidFill>
                <a:latin typeface="Helvetica Neue"/>
                <a:ea typeface="Helvetica Neue"/>
                <a:cs typeface="Helvetica Neue"/>
              </a:rPr>
              <a:t>Scheduled</a:t>
            </a:r>
          </a:p>
        </p:txBody>
      </p:sp>
      <p:sp>
        <p:nvSpPr>
          <p:cNvPr id="19" name="rb_obj_259">
            <a:extLst xmlns:a="http://schemas.openxmlformats.org/drawingml/2006/main">
              <a:ext uri="{FF2B5EF4-FFF2-40B4-BE49-F238E27FC236}">
                <a16:creationId xmlns:a16="http://schemas.microsoft.com/office/drawing/2014/main" id="{88F99975-BBEE-439C-9E95-70015F4F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76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97637"/>
                </a:solidFill>
                <a:latin typeface="Helvetica Neue"/>
                <a:ea typeface="Helvetica Neue"/>
                <a:cs typeface="Helvetica Neue"/>
              </a:rPr>
              <a:t>NEXT B</a:t>
            </a:r>
          </a:p>
        </p:txBody>
      </p:sp>
      <p:sp>
        <p:nvSpPr>
          <p:cNvPr id="20" name="rb_obj_260">
            <a:extLst xmlns:a="http://schemas.openxmlformats.org/drawingml/2006/main">
              <a:ext uri="{FF2B5EF4-FFF2-40B4-BE49-F238E27FC236}">
                <a16:creationId xmlns:a16="http://schemas.microsoft.com/office/drawing/2014/main" id="{21982A5D-C7F1-48E5-8250-9BFCFDA4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6735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+9 joint-width trainings</a:t>
            </a:r>
          </a:p>
        </p:txBody>
      </p:sp>
      <p:sp>
        <p:nvSpPr>
          <p:cNvPr id="21" name="rb_obj_261">
            <a:extLst xmlns:a="http://schemas.openxmlformats.org/drawingml/2006/main">
              <a:ext uri="{FF2B5EF4-FFF2-40B4-BE49-F238E27FC236}">
                <a16:creationId xmlns:a16="http://schemas.microsoft.com/office/drawing/2014/main" id="{B6536547-4F8F-41F8-A74E-7D413881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953125"/>
            <a:ext cx="830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Three methods × three seeds, with three views per model</a:t>
            </a:r>
          </a:p>
        </p:txBody>
      </p:sp>
      <p:sp>
        <p:nvSpPr>
          <p:cNvPr id="22" name="rb_obj_262">
            <a:extLst xmlns:a="http://schemas.openxmlformats.org/drawingml/2006/main">
              <a:ext uri="{FF2B5EF4-FFF2-40B4-BE49-F238E27FC236}">
                <a16:creationId xmlns:a16="http://schemas.microsoft.com/office/drawing/2014/main" id="{722A75E9-D45B-4D08-A23B-E12F725C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562927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B976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97637"/>
                </a:solidFill>
                <a:latin typeface="Helvetica Neue"/>
                <a:ea typeface="Helvetica Neue"/>
                <a:cs typeface="Helvetica Neue"/>
              </a:rPr>
              <a:t>Scheduled</a:t>
            </a:r>
          </a:p>
        </p:txBody>
      </p:sp>
    </p:spTree>
    <p:extLst>
      <p:ext uri="{BB962C8B-B14F-4D97-AF65-F5344CB8AC3E}">
        <p14:creationId xmlns:p14="http://schemas.microsoft.com/office/powerpoint/2010/main" val="699776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b_obj_263">
            <a:extLst xmlns:a="http://schemas.openxmlformats.org/drawingml/2006/main">
              <a:ext uri="{FF2B5EF4-FFF2-40B4-BE49-F238E27FC236}">
                <a16:creationId xmlns:a16="http://schemas.microsoft.com/office/drawing/2014/main" id="{026B6242-E6CF-47C0-9082-42977CB5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Research scope and evidence</a:t>
            </a:r>
          </a:p>
        </p:txBody>
      </p:sp>
      <p:sp>
        <p:nvSpPr>
          <p:cNvPr id="2" name="rb_obj_264">
            <a:extLst xmlns:a="http://schemas.openxmlformats.org/drawingml/2006/main">
              <a:ext uri="{FF2B5EF4-FFF2-40B4-BE49-F238E27FC236}">
                <a16:creationId xmlns:a16="http://schemas.microsoft.com/office/drawing/2014/main" id="{0D1BA53E-0109-4B84-9C73-326725E1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0991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A controlled benchmark of structured communication between trained networks</a:t>
            </a:r>
          </a:p>
        </p:txBody>
      </p:sp>
      <p:sp>
        <p:nvSpPr>
          <p:cNvPr id="3" name="rb_obj_265">
            <a:extLst xmlns:a="http://schemas.openxmlformats.org/drawingml/2006/main">
              <a:ext uri="{FF2B5EF4-FFF2-40B4-BE49-F238E27FC236}">
                <a16:creationId xmlns:a16="http://schemas.microsoft.com/office/drawing/2014/main" id="{D0F989B4-4845-4727-A78E-ECBB7BCB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24600"/>
            <a:ext cx="11049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</a:ln>
        </p:spPr>
      </p:sp>
      <p:sp>
        <p:nvSpPr>
          <p:cNvPr id="4" name="rb_obj_266">
            <a:extLst xmlns:a="http://schemas.openxmlformats.org/drawingml/2006/main">
              <a:ext uri="{FF2B5EF4-FFF2-40B4-BE49-F238E27FC236}">
                <a16:creationId xmlns:a16="http://schemas.microsoft.com/office/drawing/2014/main" id="{685DDF6D-6707-4CCA-95CD-ACD5A410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R&amp;B  Radon Bridge</a:t>
            </a:r>
          </a:p>
        </p:txBody>
      </p:sp>
      <p:sp>
        <p:nvSpPr>
          <p:cNvPr id="5" name="rb_obj_267">
            <a:extLst xmlns:a="http://schemas.openxmlformats.org/drawingml/2006/main">
              <a:ext uri="{FF2B5EF4-FFF2-40B4-BE49-F238E27FC236}">
                <a16:creationId xmlns:a16="http://schemas.microsoft.com/office/drawing/2014/main" id="{D6F4CC7B-4541-4837-898A-0E0A71BC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08 / 08</a:t>
            </a:r>
          </a:p>
        </p:txBody>
      </p:sp>
      <p:sp>
        <p:nvSpPr>
          <p:cNvPr id="6" name="rb_obj_268">
            <a:extLst xmlns:a="http://schemas.openxmlformats.org/drawingml/2006/main">
              <a:ext uri="{FF2B5EF4-FFF2-40B4-BE49-F238E27FC236}">
                <a16:creationId xmlns:a16="http://schemas.microsoft.com/office/drawing/2014/main" id="{AC36A586-5409-4BAB-A0F4-FCE08F53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Core question</a:t>
            </a:r>
          </a:p>
        </p:txBody>
      </p:sp>
      <p:sp>
        <p:nvSpPr>
          <p:cNvPr id="7" name="rb_obj_269">
            <a:extLst xmlns:a="http://schemas.openxmlformats.org/drawingml/2006/main">
              <a:ext uri="{FF2B5EF4-FFF2-40B4-BE49-F238E27FC236}">
                <a16:creationId xmlns:a16="http://schemas.microsoft.com/office/drawing/2014/main" id="{17715929-0515-44F5-BB0F-EB8F66E9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6048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When does structured</a:t>
            </a:r>
          </a:p>
          <a:p xmlns:a="http://schemas.openxmlformats.org/drawingml/2006/main">
            <a:pPr algn="l">
              <a:defRPr sz="322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communication improve</a:t>
            </a:r>
          </a:p>
          <a:p xmlns:a="http://schemas.openxmlformats.org/drawingml/2006/main">
            <a:pPr algn="l">
              <a:defRPr sz="322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both native predictors?</a:t>
            </a:r>
          </a:p>
        </p:txBody>
      </p:sp>
      <p:sp>
        <p:nvSpPr>
          <p:cNvPr id="8" name="rb_obj_270">
            <a:extLst xmlns:a="http://schemas.openxmlformats.org/drawingml/2006/main">
              <a:ext uri="{FF2B5EF4-FFF2-40B4-BE49-F238E27FC236}">
                <a16:creationId xmlns:a16="http://schemas.microsoft.com/office/drawing/2014/main" id="{B0DB4D34-36C7-4275-8733-10F79A85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81200"/>
            <a:ext cx="953" cy="3790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D4D9"/>
            </a:solidFill>
          </a:ln>
        </p:spPr>
      </p:sp>
      <p:sp>
        <p:nvSpPr>
          <p:cNvPr id="9" name="rb_obj_271">
            <a:extLst xmlns:a="http://schemas.openxmlformats.org/drawingml/2006/main">
              <a:ext uri="{FF2B5EF4-FFF2-40B4-BE49-F238E27FC236}">
                <a16:creationId xmlns:a16="http://schemas.microsoft.com/office/drawing/2014/main" id="{78E2C8D8-A476-459B-9D60-F35055DC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81200"/>
            <a:ext cx="396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B4B"/>
                </a:solidFill>
                <a:latin typeface="Helvetica Neue"/>
                <a:ea typeface="Helvetica Neue"/>
                <a:cs typeface="Helvetica Neue"/>
              </a:rPr>
              <a:t>Current evidence</a:t>
            </a:r>
          </a:p>
        </p:txBody>
      </p:sp>
      <p:sp>
        <p:nvSpPr>
          <p:cNvPr id="10" name="rb_obj_272">
            <a:extLst xmlns:a="http://schemas.openxmlformats.org/drawingml/2006/main">
              <a:ext uri="{FF2B5EF4-FFF2-40B4-BE49-F238E27FC236}">
                <a16:creationId xmlns:a16="http://schemas.microsoft.com/office/drawing/2014/main" id="{ECB27532-A299-458C-9023-9FDC85EA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81275"/>
            <a:ext cx="4000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Paired CFP and OCT</a:t>
            </a:r>
          </a:p>
          <a:p xmlns:a="http://schemas.openxmlformats.org/drawingml/2006/main">
            <a:pPr algn="l">
              <a:defRPr sz="187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One record-derived glaucoma target</a:t>
            </a:r>
          </a:p>
          <a:p xmlns:a="http://schemas.openxmlformats.org/drawingml/2006/main">
            <a:pPr algn="l">
              <a:defRPr sz="187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Three training seeds</a:t>
            </a:r>
          </a:p>
          <a:p xmlns:a="http://schemas.openxmlformats.org/drawingml/2006/main">
            <a:pPr algn="l">
              <a:defRPr sz="187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Development-set evaluation</a:t>
            </a:r>
          </a:p>
        </p:txBody>
      </p:sp>
      <p:sp>
        <p:nvSpPr>
          <p:cNvPr id="11" name="rb_obj_273">
            <a:extLst xmlns:a="http://schemas.openxmlformats.org/drawingml/2006/main">
              <a:ext uri="{FF2B5EF4-FFF2-40B4-BE49-F238E27FC236}">
                <a16:creationId xmlns:a16="http://schemas.microsoft.com/office/drawing/2014/main" id="{67B1AC05-3EDE-4D41-BB3C-965D631B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62500"/>
            <a:ext cx="3905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Independent cohorts and broader</a:t>
            </a:r>
          </a:p>
          <a:p xmlns:a="http://schemas.openxmlformats.org/drawingml/2006/main">
            <a:pPr algn="l">
              <a:def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17480"/>
                </a:solidFill>
                <a:latin typeface="Helvetica Neue"/>
                <a:ea typeface="Helvetica Neue"/>
                <a:cs typeface="Helvetica Neue"/>
              </a:rPr>
              <a:t>model / task validation remain future work.</a:t>
            </a:r>
          </a:p>
        </p:txBody>
      </p:sp>
      <p:sp>
        <p:nvSpPr>
          <p:cNvPr id="12" name="rb_obj_274">
            <a:extLst xmlns:a="http://schemas.openxmlformats.org/drawingml/2006/main">
              <a:ext uri="{FF2B5EF4-FFF2-40B4-BE49-F238E27FC236}">
                <a16:creationId xmlns:a16="http://schemas.microsoft.com/office/drawing/2014/main" id="{84A425B4-3EB8-439D-895A-2A31CAD7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763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E87"/>
                </a:solidFill>
                <a:latin typeface="Helvetica Neue"/>
                <a:ea typeface="Helvetica Neue"/>
                <a:cs typeface="Helvetica Neue"/>
              </a:rPr>
              <a:t>Component tests first. Full results and uncertainty in the research report.</a:t>
            </a:r>
          </a:p>
        </p:txBody>
      </p:sp>
    </p:spTree>
    <p:extLst>
      <p:ext uri="{BB962C8B-B14F-4D97-AF65-F5344CB8AC3E}">
        <p14:creationId xmlns:p14="http://schemas.microsoft.com/office/powerpoint/2010/main" val="16412006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2026-09-05T19:56:55.6430000Z</dcterms:created>
  <dcterms:modified xsi:type="dcterms:W3CDTF">2026-09-05T19:56:55.6430000Z</dcterms:modified>
</coreProperties>
</file>