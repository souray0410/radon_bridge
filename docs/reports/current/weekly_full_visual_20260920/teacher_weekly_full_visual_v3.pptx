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85b3f30a674cac" /><Relationship Type="http://schemas.openxmlformats.org/officeDocument/2006/relationships/extended-properties" Target="/docProps/app.xml" Id="R6c6256f749394a8b" /><Relationship Type="http://schemas.openxmlformats.org/officeDocument/2006/relationships/officeDocument" Target="/ppt/presentation.xml" Id="R86606f10a2d540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cb3693ebb428d"/>
  </p:sldMasterIdLst>
  <p:notesMasterIdLst>
    <p:notesMasterId xmlns:r="http://schemas.openxmlformats.org/officeDocument/2006/relationships" r:id="R49dc5c54b9ab4382"/>
  </p:notesMasterIdLst>
  <p:sldIdLst>
    <p:sldId xmlns:r="http://schemas.openxmlformats.org/officeDocument/2006/relationships" id="256" r:id="R2908a85d9015449b"/>
    <p:sldId xmlns:r="http://schemas.openxmlformats.org/officeDocument/2006/relationships" id="257" r:id="R911b39db3c0e4337"/>
    <p:sldId xmlns:r="http://schemas.openxmlformats.org/officeDocument/2006/relationships" id="258" r:id="R6ac84e078fdd42e5"/>
    <p:sldId xmlns:r="http://schemas.openxmlformats.org/officeDocument/2006/relationships" id="259" r:id="R7d32f273bd0b463d"/>
    <p:sldId xmlns:r="http://schemas.openxmlformats.org/officeDocument/2006/relationships" id="260" r:id="Rf2831afc7ea14155"/>
    <p:sldId xmlns:r="http://schemas.openxmlformats.org/officeDocument/2006/relationships" id="261" r:id="R9dbd03995ee04f8c"/>
    <p:sldId xmlns:r="http://schemas.openxmlformats.org/officeDocument/2006/relationships" id="262" r:id="Rf74aa0efd03b42a6"/>
    <p:sldId xmlns:r="http://schemas.openxmlformats.org/officeDocument/2006/relationships" id="263" r:id="R14021e33b25243e9"/>
    <p:sldId xmlns:r="http://schemas.openxmlformats.org/officeDocument/2006/relationships" id="264" r:id="R0ae2dcbfcd3347fc"/>
    <p:sldId xmlns:r="http://schemas.openxmlformats.org/officeDocument/2006/relationships" id="265" r:id="R412fd4e115384b76"/>
    <p:sldId xmlns:r="http://schemas.openxmlformats.org/officeDocument/2006/relationships" id="266" r:id="R462b9f3f06e744f9"/>
    <p:sldId xmlns:r="http://schemas.openxmlformats.org/officeDocument/2006/relationships" id="267" r:id="Rc2bc3483fa1c4a75"/>
    <p:sldId xmlns:r="http://schemas.openxmlformats.org/officeDocument/2006/relationships" id="268" r:id="Rde7c4745ade341c7"/>
    <p:sldId xmlns:r="http://schemas.openxmlformats.org/officeDocument/2006/relationships" id="269" r:id="R1f05bd0e32444f0f"/>
    <p:sldId xmlns:r="http://schemas.openxmlformats.org/officeDocument/2006/relationships" id="270" r:id="Ra2467e0052334c24"/>
    <p:sldId xmlns:r="http://schemas.openxmlformats.org/officeDocument/2006/relationships" id="271" r:id="Rdadb708b2ba24493"/>
    <p:sldId xmlns:r="http://schemas.openxmlformats.org/officeDocument/2006/relationships" id="272" r:id="R60c42262ae2e4462"/>
    <p:sldId xmlns:r="http://schemas.openxmlformats.org/officeDocument/2006/relationships" id="273" r:id="Rd2420950f71f4d87"/>
    <p:sldId xmlns:r="http://schemas.openxmlformats.org/officeDocument/2006/relationships" id="274" r:id="R8742d003a10a4624"/>
    <p:sldId xmlns:r="http://schemas.openxmlformats.org/officeDocument/2006/relationships" id="275" r:id="Rbb077d2d971e48e7"/>
    <p:sldId xmlns:r="http://schemas.openxmlformats.org/officeDocument/2006/relationships" id="276" r:id="R23293cbec5434f76"/>
    <p:sldId xmlns:r="http://schemas.openxmlformats.org/officeDocument/2006/relationships" id="277" r:id="R05a3143c6f0d4689"/>
    <p:sldId xmlns:r="http://schemas.openxmlformats.org/officeDocument/2006/relationships" id="278" r:id="R3dc4a5f8b1024115"/>
    <p:sldId xmlns:r="http://schemas.openxmlformats.org/officeDocument/2006/relationships" id="279" r:id="R29664601a83646af"/>
    <p:sldId xmlns:r="http://schemas.openxmlformats.org/officeDocument/2006/relationships" id="280" r:id="R70cc204eb16b435a"/>
    <p:sldId xmlns:r="http://schemas.openxmlformats.org/officeDocument/2006/relationships" id="281" r:id="R087d67bc51014143"/>
    <p:sldId xmlns:r="http://schemas.openxmlformats.org/officeDocument/2006/relationships" id="282" r:id="R27322d57f91a474e"/>
    <p:sldId xmlns:r="http://schemas.openxmlformats.org/officeDocument/2006/relationships" id="283" r:id="R6fc1fce518f24933"/>
    <p:sldId xmlns:r="http://schemas.openxmlformats.org/officeDocument/2006/relationships" id="284" r:id="R9f2caeea60d548a5"/>
    <p:sldId xmlns:r="http://schemas.openxmlformats.org/officeDocument/2006/relationships" id="285" r:id="Rced9836badb94fac"/>
    <p:sldId xmlns:r="http://schemas.openxmlformats.org/officeDocument/2006/relationships" id="286" r:id="R6b0495e90f0049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8c7bc48d814f0d" /><Relationship Type="http://schemas.openxmlformats.org/officeDocument/2006/relationships/slideMaster" Target="/ppt/slideMasters/slideMaster1.xml" Id="R78acb3693ebb428d" /><Relationship Type="http://schemas.openxmlformats.org/officeDocument/2006/relationships/notesMaster" Target="/ppt/notesMasters/notesMaster1.xml" Id="R49dc5c54b9ab4382" /><Relationship Type="http://schemas.openxmlformats.org/officeDocument/2006/relationships/presProps" Target="/ppt/presProps.xml" Id="R036b21b7b1fa4549" /><Relationship Type="http://schemas.openxmlformats.org/officeDocument/2006/relationships/tableStyles" Target="/ppt/tableStyles.xml" Id="R83f2cd6b72564e26" /><Relationship Type="http://schemas.openxmlformats.org/officeDocument/2006/relationships/slide" Target="/ppt/slides/slide1.xml" Id="R2908a85d9015449b" /><Relationship Type="http://schemas.openxmlformats.org/officeDocument/2006/relationships/slide" Target="/ppt/slides/slide2.xml" Id="R911b39db3c0e4337" /><Relationship Type="http://schemas.openxmlformats.org/officeDocument/2006/relationships/slide" Target="/ppt/slides/slide3.xml" Id="R6ac84e078fdd42e5" /><Relationship Type="http://schemas.openxmlformats.org/officeDocument/2006/relationships/slide" Target="/ppt/slides/slide4.xml" Id="R7d32f273bd0b463d" /><Relationship Type="http://schemas.openxmlformats.org/officeDocument/2006/relationships/slide" Target="/ppt/slides/slide5.xml" Id="Rf2831afc7ea14155" /><Relationship Type="http://schemas.openxmlformats.org/officeDocument/2006/relationships/slide" Target="/ppt/slides/slide6.xml" Id="R9dbd03995ee04f8c" /><Relationship Type="http://schemas.openxmlformats.org/officeDocument/2006/relationships/slide" Target="/ppt/slides/slide7.xml" Id="Rf74aa0efd03b42a6" /><Relationship Type="http://schemas.openxmlformats.org/officeDocument/2006/relationships/slide" Target="/ppt/slides/slide8.xml" Id="R14021e33b25243e9" /><Relationship Type="http://schemas.openxmlformats.org/officeDocument/2006/relationships/slide" Target="/ppt/slides/slide9.xml" Id="R0ae2dcbfcd3347fc" /><Relationship Type="http://schemas.openxmlformats.org/officeDocument/2006/relationships/slide" Target="/ppt/slides/slide10.xml" Id="R412fd4e115384b76" /><Relationship Type="http://schemas.openxmlformats.org/officeDocument/2006/relationships/slide" Target="/ppt/slides/slide11.xml" Id="R462b9f3f06e744f9" /><Relationship Type="http://schemas.openxmlformats.org/officeDocument/2006/relationships/slide" Target="/ppt/slides/slide12.xml" Id="Rc2bc3483fa1c4a75" /><Relationship Type="http://schemas.openxmlformats.org/officeDocument/2006/relationships/slide" Target="/ppt/slides/slide13.xml" Id="Rde7c4745ade341c7" /><Relationship Type="http://schemas.openxmlformats.org/officeDocument/2006/relationships/slide" Target="/ppt/slides/slide14.xml" Id="R1f05bd0e32444f0f" /><Relationship Type="http://schemas.openxmlformats.org/officeDocument/2006/relationships/slide" Target="/ppt/slides/slide15.xml" Id="Ra2467e0052334c24" /><Relationship Type="http://schemas.openxmlformats.org/officeDocument/2006/relationships/slide" Target="/ppt/slides/slide16.xml" Id="Rdadb708b2ba24493" /><Relationship Type="http://schemas.openxmlformats.org/officeDocument/2006/relationships/slide" Target="/ppt/slides/slide17.xml" Id="R60c42262ae2e4462" /><Relationship Type="http://schemas.openxmlformats.org/officeDocument/2006/relationships/slide" Target="/ppt/slides/slide18.xml" Id="Rd2420950f71f4d87" /><Relationship Type="http://schemas.openxmlformats.org/officeDocument/2006/relationships/slide" Target="/ppt/slides/slide19.xml" Id="R8742d003a10a4624" /><Relationship Type="http://schemas.openxmlformats.org/officeDocument/2006/relationships/slide" Target="/ppt/slides/slide20.xml" Id="Rbb077d2d971e48e7" /><Relationship Type="http://schemas.openxmlformats.org/officeDocument/2006/relationships/slide" Target="/ppt/slides/slide21.xml" Id="R23293cbec5434f76" /><Relationship Type="http://schemas.openxmlformats.org/officeDocument/2006/relationships/slide" Target="/ppt/slides/slide22.xml" Id="R05a3143c6f0d4689" /><Relationship Type="http://schemas.openxmlformats.org/officeDocument/2006/relationships/slide" Target="/ppt/slides/slide23.xml" Id="R3dc4a5f8b1024115" /><Relationship Type="http://schemas.openxmlformats.org/officeDocument/2006/relationships/slide" Target="/ppt/slides/slide24.xml" Id="R29664601a83646af" /><Relationship Type="http://schemas.openxmlformats.org/officeDocument/2006/relationships/slide" Target="/ppt/slides/slide25.xml" Id="R70cc204eb16b435a" /><Relationship Type="http://schemas.openxmlformats.org/officeDocument/2006/relationships/slide" Target="/ppt/slides/slide26.xml" Id="R087d67bc51014143" /><Relationship Type="http://schemas.openxmlformats.org/officeDocument/2006/relationships/slide" Target="/ppt/slides/slide27.xml" Id="R27322d57f91a474e" /><Relationship Type="http://schemas.openxmlformats.org/officeDocument/2006/relationships/slide" Target="/ppt/slides/slide28.xml" Id="R6fc1fce518f24933" /><Relationship Type="http://schemas.openxmlformats.org/officeDocument/2006/relationships/slide" Target="/ppt/slides/slide29.xml" Id="R9f2caeea60d548a5" /><Relationship Type="http://schemas.openxmlformats.org/officeDocument/2006/relationships/slide" Target="/ppt/slides/slide30.xml" Id="Rced9836badb94fac" /><Relationship Type="http://schemas.openxmlformats.org/officeDocument/2006/relationships/slide" Target="/ppt/slides/slide31.xml" Id="R6b0495e90f00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6f5b494b6a47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f66c1ad4d743b5" /><Relationship Type="http://schemas.openxmlformats.org/officeDocument/2006/relationships/notesMaster" Target="/ppt/notesMasters/notesMaster1.xml" Id="R185b9f1bd1014a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81cd95458a4a20" /><Relationship Type="http://schemas.openxmlformats.org/officeDocument/2006/relationships/notesMaster" Target="/ppt/notesMasters/notesMaster1.xml" Id="R469c54cf0c444d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4a2d144f6f4d88" /><Relationship Type="http://schemas.openxmlformats.org/officeDocument/2006/relationships/notesMaster" Target="/ppt/notesMasters/notesMaster1.xml" Id="R1ecddc3a578848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3e39cb8f0d417b" /><Relationship Type="http://schemas.openxmlformats.org/officeDocument/2006/relationships/notesMaster" Target="/ppt/notesMasters/notesMaster1.xml" Id="R8856916e6b4e43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5042d787b24243" /><Relationship Type="http://schemas.openxmlformats.org/officeDocument/2006/relationships/notesMaster" Target="/ppt/notesMasters/notesMaster1.xml" Id="R247fdffc111040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bcce62d8ca42e2" /><Relationship Type="http://schemas.openxmlformats.org/officeDocument/2006/relationships/notesMaster" Target="/ppt/notesMasters/notesMaster1.xml" Id="Rd69faa7bd6594f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6047a899f54aa0" /><Relationship Type="http://schemas.openxmlformats.org/officeDocument/2006/relationships/notesMaster" Target="/ppt/notesMasters/notesMaster1.xml" Id="Rb4a1165bcdad42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867fb9bdb54f19" /><Relationship Type="http://schemas.openxmlformats.org/officeDocument/2006/relationships/notesMaster" Target="/ppt/notesMasters/notesMaster1.xml" Id="Raa01ae2dd7a142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1a619b0e0649b1" /><Relationship Type="http://schemas.openxmlformats.org/officeDocument/2006/relationships/notesMaster" Target="/ppt/notesMasters/notesMaster1.xml" Id="R34452663e7154b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3ada9170814959" /><Relationship Type="http://schemas.openxmlformats.org/officeDocument/2006/relationships/notesMaster" Target="/ppt/notesMasters/notesMaster1.xml" Id="R31633cd57f8648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c9a3c5a0e44873" /><Relationship Type="http://schemas.openxmlformats.org/officeDocument/2006/relationships/notesMaster" Target="/ppt/notesMasters/notesMaster1.xml" Id="Rf049f0be945b40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de04b1bbfb437d" /><Relationship Type="http://schemas.openxmlformats.org/officeDocument/2006/relationships/notesMaster" Target="/ppt/notesMasters/notesMaster1.xml" Id="Ra35055899e4a40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a943c6fccc4f0c" /><Relationship Type="http://schemas.openxmlformats.org/officeDocument/2006/relationships/notesMaster" Target="/ppt/notesMasters/notesMaster1.xml" Id="R64fa364fbee042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abc1fbf86743d9" /><Relationship Type="http://schemas.openxmlformats.org/officeDocument/2006/relationships/notesMaster" Target="/ppt/notesMasters/notesMaster1.xml" Id="R844034877c9a46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f5bbc10fa74edf" /><Relationship Type="http://schemas.openxmlformats.org/officeDocument/2006/relationships/notesMaster" Target="/ppt/notesMasters/notesMaster1.xml" Id="Rc7c7ed10136f4e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ac3c2202714e36" /><Relationship Type="http://schemas.openxmlformats.org/officeDocument/2006/relationships/notesMaster" Target="/ppt/notesMasters/notesMaster1.xml" Id="Rb11c78a77cc24d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e6c64104df48ec" /><Relationship Type="http://schemas.openxmlformats.org/officeDocument/2006/relationships/notesMaster" Target="/ppt/notesMasters/notesMaster1.xml" Id="Rf5390ad31b3f40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7bc953567a4822" /><Relationship Type="http://schemas.openxmlformats.org/officeDocument/2006/relationships/notesMaster" Target="/ppt/notesMasters/notesMaster1.xml" Id="R21bc1e5a27b145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e216ac450f4862" /><Relationship Type="http://schemas.openxmlformats.org/officeDocument/2006/relationships/notesMaster" Target="/ppt/notesMasters/notesMaster1.xml" Id="R32113bb4e76148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82edec0c8224418" /><Relationship Type="http://schemas.openxmlformats.org/officeDocument/2006/relationships/notesMaster" Target="/ppt/notesMasters/notesMaster1.xml" Id="Rdf2d47e137db418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697f7a86c04c86" /><Relationship Type="http://schemas.openxmlformats.org/officeDocument/2006/relationships/notesMaster" Target="/ppt/notesMasters/notesMaster1.xml" Id="Re7986bd31d5c41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f7e85a970564898" /><Relationship Type="http://schemas.openxmlformats.org/officeDocument/2006/relationships/notesMaster" Target="/ppt/notesMasters/notesMaster1.xml" Id="Red7a5e7fb00e4f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c864d5344041c4" /><Relationship Type="http://schemas.openxmlformats.org/officeDocument/2006/relationships/notesMaster" Target="/ppt/notesMasters/notesMaster1.xml" Id="Rf84d2964a657401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4fb5044b0f74aba" /><Relationship Type="http://schemas.openxmlformats.org/officeDocument/2006/relationships/notesMaster" Target="/ppt/notesMasters/notesMaster1.xml" Id="R081da4d392f94d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f5b811dc98b4f66" /><Relationship Type="http://schemas.openxmlformats.org/officeDocument/2006/relationships/notesMaster" Target="/ppt/notesMasters/notesMaster1.xml" Id="R07aaef2c449a446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ae09399472c45cf" /><Relationship Type="http://schemas.openxmlformats.org/officeDocument/2006/relationships/notesMaster" Target="/ppt/notesMasters/notesMaster1.xml" Id="Rfa424dd831344b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c5a26b364b74b5b" /><Relationship Type="http://schemas.openxmlformats.org/officeDocument/2006/relationships/notesMaster" Target="/ppt/notesMasters/notesMaster1.xml" Id="Rd42127e016dd44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411dccac96d4f57" /><Relationship Type="http://schemas.openxmlformats.org/officeDocument/2006/relationships/notesMaster" Target="/ppt/notesMasters/notesMaster1.xml" Id="R754c75783f314b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b0f666f1f674a9c" /><Relationship Type="http://schemas.openxmlformats.org/officeDocument/2006/relationships/notesMaster" Target="/ppt/notesMasters/notesMaster1.xml" Id="R02761b2ea7b44a3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e85da9368d48a3" /><Relationship Type="http://schemas.openxmlformats.org/officeDocument/2006/relationships/notesMaster" Target="/ppt/notesMasters/notesMaster1.xml" Id="Rc5720928f903462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d082e51ef3d40a1" /><Relationship Type="http://schemas.openxmlformats.org/officeDocument/2006/relationships/notesMaster" Target="/ppt/notesMasters/notesMaster1.xml" Id="R893f14a5e460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完整周报：上周到底做了什么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不是只讲两个方法，而是LOOK、R&amp;B、工程交付三条线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覆盖9月14日至9月20日</a:t>
            </a:r>
          </a:p>
          <a:p xmlns:a="http://schemas.openxmlformats.org/drawingml/2006/main">
            <a:r>
              <a:t>把positive tree、72项固定均值、Ibex四树、R&amp;B分组/中心化全部补回</a:t>
            </a:r>
          </a:p>
          <a:p xmlns:a="http://schemas.openxmlformats.org/drawingml/2006/main">
            <a:r>
              <a:t>仍保持测试集封存与科学边界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一页看全局：三条主线并行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LOOK解决缺输入；R&amp;B解决两路通信；工程线保证证据可验收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LOOK：缺OCT/缺CFP时，拟合线性修正并搜索有收益位置</a:t>
            </a:r>
          </a:p>
          <a:p xmlns:a="http://schemas.openxmlformats.org/drawingml/2006/main">
            <a:r>
              <a:t>R&amp;B：两分支都在时，比较Radon桥、普通通信、已有通信模块</a:t>
            </a:r>
          </a:p>
          <a:p xmlns:a="http://schemas.openxmlformats.org/drawingml/2006/main">
            <a:r>
              <a:t>工程：资源、恢复、发布、PPT/讲稿/来源索引逐步修到可交付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时间线：从清单到可审证据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每一天的关键词不一样：盘点、末端、拟合、树、对照、交付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9/14 盘点全流程与降维方案</a:t>
            </a:r>
          </a:p>
          <a:p xmlns:a="http://schemas.openxmlformats.org/drawingml/2006/main">
            <a:r>
              <a:t>9/15 末端修正与结果汇总</a:t>
            </a:r>
          </a:p>
          <a:p xmlns:a="http://schemas.openxmlformats.org/drawingml/2006/main">
            <a:r>
              <a:t>9/16 拟合家族与搜索策略</a:t>
            </a:r>
          </a:p>
          <a:p xmlns:a="http://schemas.openxmlformats.org/drawingml/2006/main">
            <a:r>
              <a:t>9/17 positive tree与32层3D风险</a:t>
            </a:r>
          </a:p>
          <a:p xmlns:a="http://schemas.openxmlformats.org/drawingml/2006/main">
            <a:r>
              <a:t>9/18 树搜索完成、方法比较、R&amp;B六臂</a:t>
            </a:r>
          </a:p>
          <a:p xmlns:a="http://schemas.openxmlformats.org/drawingml/2006/main">
            <a:r>
              <a:t>9/19 分组/中心化/融合/32层父模型</a:t>
            </a:r>
          </a:p>
          <a:p xmlns:a="http://schemas.openxmlformats.org/drawingml/2006/main">
            <a:r>
              <a:t>9/20 IMD/CMX完整组与交付链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眼科输入先讲清楚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CFP是眼底照片，OCT是断层/体层；两个项目处理的问题不同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LOOK：缺少一种输入时，能否修正内部数字，让结果更像完整输入</a:t>
            </a:r>
          </a:p>
          <a:p xmlns:a="http://schemas.openxmlformats.org/drawingml/2006/main">
            <a:r>
              <a:t>R&amp;B：两种输入都在时，能否让两条支路交换信息，提高判断</a:t>
            </a:r>
          </a:p>
          <a:p xmlns:a="http://schemas.openxmlformats.org/drawingml/2006/main">
            <a:r>
              <a:t>本周多数结果仍是开发集、单种子或单配置，不是测试集结论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证据规则：先公平，再谈提升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所有结果都按同父模型、同数据划分、同开发集选择来解释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Macro-F1提升不等于概率质量改善</a:t>
            </a:r>
          </a:p>
          <a:p xmlns:a="http://schemas.openxmlformats.org/drawingml/2006/main">
            <a:r>
              <a:t>同时区间跨零时，不能宣称稳定优越</a:t>
            </a:r>
          </a:p>
          <a:p xmlns:a="http://schemas.openxmlformats.org/drawingml/2006/main">
            <a:r>
              <a:t>test全程封存；开发集既选路径又报指标，所以结论有界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LOOK主流程图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缺输入 → 拟合补偿 → 逐层搜索 → 配对统计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流程：原模型训练完成 -&gt; 缺OCT/缺CFP -&gt; PCA或残差拟合 -&gt; best/positive tree -&gt; 10k配对区间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为什么必须讲positive tree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只选当前最好位置会漏掉“第一步小、后面更好”的路径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best-forward：每次只接着当前最佳位置继续</a:t>
            </a:r>
          </a:p>
          <a:p xmlns:a="http://schemas.openxmlformats.org/drawingml/2006/main">
            <a:r>
              <a:t>positive-forward tree：保留所有有正收益的分支，再沿各自下游继续</a:t>
            </a:r>
          </a:p>
          <a:p xmlns:a="http://schemas.openxmlformats.org/drawingml/2006/main">
            <a:r>
              <a:t>关键约束：每条分支必须用它自己的修正特征，不能套别的缓存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positive tree的首个完整结果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白内障R50深层融合；12,510名开发集；单种子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缺OCT：+4.13个百分点</a:t>
            </a:r>
          </a:p>
          <a:p xmlns:a="http://schemas.openxmlformats.org/drawingml/2006/main">
            <a:r>
              <a:t>缺CFP：+4.47个百分点</a:t>
            </a:r>
          </a:p>
          <a:p xmlns:a="http://schemas.openxmlformats.org/drawingml/2006/main">
            <a:r>
              <a:t>但缺CFP时AUROC与概率指标变差：不能只报F1涨分</a:t>
            </a:r>
          </a:p>
          <a:p xmlns:a="http://schemas.openxmlformats.org/drawingml/2006/main">
            <a:r>
              <a:t>缺OCT 原始: 71.33</a:t>
            </a:r>
          </a:p>
          <a:p xmlns:a="http://schemas.openxmlformats.org/drawingml/2006/main">
            <a:r>
              <a:t>缺OCT +LOOK: 75.47</a:t>
            </a:r>
          </a:p>
          <a:p xmlns:a="http://schemas.openxmlformats.org/drawingml/2006/main">
            <a:r>
              <a:t>缺CFP 原始: 53.14</a:t>
            </a:r>
          </a:p>
          <a:p xmlns:a="http://schemas.openxmlformats.org/drawingml/2006/main">
            <a:r>
              <a:t>缺CFP +LOOK: 57.61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拟合方法：PCA方向 vs 自由低秩残差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二者都不重训原神经网络，但都要用训练数据拟合修正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PCA自由均值：在完整输入的主要变化方向里拟合</a:t>
            </a:r>
          </a:p>
          <a:p xmlns:a="http://schemas.openxmlformats.org/drawingml/2006/main">
            <a:r>
              <a:t>残差RRR自由均值：从缺失差距中学习低秩修正方向</a:t>
            </a:r>
          </a:p>
          <a:p xmlns:a="http://schemas.openxmlformats.org/drawingml/2006/main">
            <a:r>
              <a:t>核心问题：换拟合家族本身是否改变结果，而不是换数据/换宿主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小队列R18/R50：方法排序会反转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296人开发集，用来发现机制，不是最终泛化证明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缺OCT时PCA更高，缺CFP时残差更高</a:t>
            </a:r>
          </a:p>
          <a:p xmlns:a="http://schemas.openxmlformats.org/drawingml/2006/main">
            <a:r>
              <a:t>差值区间不足以判定统一胜者</a:t>
            </a:r>
          </a:p>
          <a:p xmlns:a="http://schemas.openxmlformats.org/drawingml/2006/main">
            <a:r>
              <a:t>R50和R18不可混成一张“稳定排名”</a:t>
            </a:r>
          </a:p>
          <a:p xmlns:a="http://schemas.openxmlformats.org/drawingml/2006/main">
            <a:r>
              <a:t>R18缺OCT PCA: 69.24</a:t>
            </a:r>
          </a:p>
          <a:p xmlns:a="http://schemas.openxmlformats.org/drawingml/2006/main">
            <a:r>
              <a:t>R18缺OCT 残差: 66.77</a:t>
            </a:r>
          </a:p>
          <a:p xmlns:a="http://schemas.openxmlformats.org/drawingml/2006/main">
            <a:r>
              <a:t>R18缺CFP PCA: 60.02</a:t>
            </a:r>
          </a:p>
          <a:p xmlns:a="http://schemas.openxmlformats.org/drawingml/2006/main">
            <a:r>
              <a:t>R18缺CFP 残差: 61.37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72项固定均值控制：不是漏项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它回答“收益来自方向还是均值/正则/位置选择”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复用两个ResNet18宿主的根候选，不新增模型训练</a:t>
            </a:r>
          </a:p>
          <a:p xmlns:a="http://schemas.openxmlformats.org/drawingml/2006/main">
            <a:r>
              <a:t>72项固定均值对照全部结束并独立重算通过</a:t>
            </a:r>
          </a:p>
          <a:p xmlns:a="http://schemas.openxmlformats.org/drawingml/2006/main">
            <a:r>
              <a:t>58项自由均值F1较高、10项较低、4项相同；条件相关，不能当独立投票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融合位置实验：中层/向量/深层都要讲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不是所有更大涨幅都代表更好宿主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中层缺OCT从33.33%升到63.67/65.67，但深层对应69.24/66.77</a:t>
            </a:r>
          </a:p>
          <a:p xmlns:a="http://schemas.openxmlformats.org/drawingml/2006/main">
            <a:r>
              <a:t>每眼向量与深层四项收益差区间跨零，不证明等效</a:t>
            </a:r>
          </a:p>
          <a:p xmlns:a="http://schemas.openxmlformats.org/drawingml/2006/main">
            <a:r>
              <a:t>深层缺OCT NLL从1.0803恶化到1.6217/2.5447，概率反例必须保留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真实缺失方法A：EmbraceNet合同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老师要的是“已有缺失方法A + LOOK”，不是任意宿主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EmbraceNet固定作者commit、随机multinomial语义，不替换为均值网络</a:t>
            </a:r>
          </a:p>
          <a:p xmlns:a="http://schemas.openxmlformats.org/drawingml/2006/main">
            <a:r>
              <a:t>计划同一A checkpoint，缺失状态逐draw复用精确indices</a:t>
            </a:r>
          </a:p>
          <a:p xmlns:a="http://schemas.openxmlformats.org/drawingml/2006/main">
            <a:r>
              <a:t>9个LOOK节点从joint_input到embraced_feature；未来完整positive tree可在此展开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IMD组件A：已经完成但身份有限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target-task组件A best13/stop28；PCA/RRR×双缺失四树与10k统计完成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右侧独审通过，但方法身份限制保留</a:t>
            </a:r>
          </a:p>
          <a:p xmlns:a="http://schemas.openxmlformats.org/drawingml/2006/main">
            <a:r>
              <a:t>不能把IMD组件直接写成完整staged contrastive→dropout方法</a:t>
            </a:r>
          </a:p>
          <a:p xmlns:a="http://schemas.openxmlformats.org/drawingml/2006/main">
            <a:r>
              <a:t>R3 fit admission仍未接受：资源、恢复、cache写入等风险未完全闭合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Ibex大队列：四树不是一句“有提升”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白内障R50深层；12,510人开发集；2种方法×2种缺失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四棵free-mean完整树：1505文件、321源码pin、274预测检查</a:t>
            </a:r>
          </a:p>
          <a:p xmlns:a="http://schemas.openxmlformats.org/drawingml/2006/main">
            <a:r>
              <a:t>4树/91前缀/179候选，四指标+10k配对区间</a:t>
            </a:r>
          </a:p>
          <a:p xmlns:a="http://schemas.openxmlformats.org/drawingml/2006/main">
            <a:r>
              <a:t>PCA与残差F1均正；但缺CFP PCA概率指标恶化，残差改善，不能泛化成一句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LOOK本周边界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这周证明了“有代表性正信号”，没证明“方法已稳定胜出”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单种子/开发集选择/同任务开发集报告</a:t>
            </a:r>
          </a:p>
          <a:p xmlns:a="http://schemas.openxmlformats.org/drawingml/2006/main">
            <a:r>
              <a:t>概率指标常与F1方向不一致</a:t>
            </a:r>
          </a:p>
          <a:p xmlns:a="http://schemas.openxmlformats.org/drawingml/2006/main">
            <a:r>
              <a:t>下一步应是外部缺失方法A的语义匹配与独立测试，而不是继续堆同类参数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R&amp;B主流程图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两条分支都在时，把信息放到统一通信空间再回到分支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流程：CFP分支 -&gt; OCT分支 -&gt; 投影/压缩 -&gt; Radon或普通通信 -&gt; 双分支指标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R&amp;B六臂基础对照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无通信、SVD-Radon、普通通信、自身处理、MMTM、交叉注意力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Radon点估计最高，但同时区间跨零</a:t>
            </a:r>
          </a:p>
          <a:p xmlns:a="http://schemas.openxmlformats.org/drawingml/2006/main">
            <a:r>
              <a:t>无通信/自身处理/MMTM选回第0轮父模型，不是没跑</a:t>
            </a:r>
          </a:p>
          <a:p xmlns:a="http://schemas.openxmlformats.org/drawingml/2006/main">
            <a:r>
              <a:t>这是单种子小队列，不是最终稳定排名</a:t>
            </a:r>
          </a:p>
          <a:p xmlns:a="http://schemas.openxmlformats.org/drawingml/2006/main">
            <a:r>
              <a:t>无通信: 66.01</a:t>
            </a:r>
          </a:p>
          <a:p xmlns:a="http://schemas.openxmlformats.org/drawingml/2006/main">
            <a:r>
              <a:t>SVD-Radon: 71.79</a:t>
            </a:r>
          </a:p>
          <a:p xmlns:a="http://schemas.openxmlformats.org/drawingml/2006/main">
            <a:r>
              <a:t>普通通信: 67.53</a:t>
            </a:r>
          </a:p>
          <a:p xmlns:a="http://schemas.openxmlformats.org/drawingml/2006/main">
            <a:r>
              <a:t>自身处理: 66.01</a:t>
            </a:r>
          </a:p>
          <a:p xmlns:a="http://schemas.openxmlformats.org/drawingml/2006/main">
            <a:r>
              <a:t>MMTM: 66.01</a:t>
            </a:r>
          </a:p>
          <a:p xmlns:a="http://schemas.openxmlformats.org/drawingml/2006/main">
            <a:r>
              <a:t>交叉注意力: 66.53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通道压缩：SVD、QR、可学习通道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回答“是不是只因为SVD压缩方式特殊”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三种压缩都保留Radon正向点估计</a:t>
            </a:r>
          </a:p>
          <a:p xmlns:a="http://schemas.openxmlformats.org/drawingml/2006/main">
            <a:r>
              <a:t>七项同时区间均跨零，不能宣布稳定赢家</a:t>
            </a:r>
          </a:p>
          <a:p xmlns:a="http://schemas.openxmlformats.org/drawingml/2006/main">
            <a:r>
              <a:t>这是机制探索，不是论文主结论</a:t>
            </a:r>
          </a:p>
          <a:p xmlns:a="http://schemas.openxmlformats.org/drawingml/2006/main">
            <a:r>
              <a:t>SVD Radon: 71.79</a:t>
            </a:r>
          </a:p>
          <a:p xmlns:a="http://schemas.openxmlformats.org/drawingml/2006/main">
            <a:r>
              <a:t>QR Radon: 70.23</a:t>
            </a:r>
          </a:p>
          <a:p xmlns:a="http://schemas.openxmlformats.org/drawingml/2006/main">
            <a:r>
              <a:t>Learned Radon: 69.58</a:t>
            </a:r>
          </a:p>
          <a:p xmlns:a="http://schemas.openxmlformats.org/drawingml/2006/main">
            <a:r>
              <a:t>SVD Comm: 67.53</a:t>
            </a:r>
          </a:p>
          <a:p xmlns:a="http://schemas.openxmlformats.org/drawingml/2006/main">
            <a:r>
              <a:t>QR Comm: 66.01</a:t>
            </a:r>
          </a:p>
          <a:p xmlns:a="http://schemas.openxmlformats.org/drawingml/2006/main">
            <a:r>
              <a:t>Learned Comm: 66.01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分组通信：2/4/8/16都补齐了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分组减少直接通信连接，也减少参数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8项新实验：Radon与普通通信各4个group</a:t>
            </a:r>
          </a:p>
          <a:p xmlns:a="http://schemas.openxmlformats.org/drawingml/2006/main">
            <a:r>
              <a:t>同组数Radon-普通点差为正，但五项同时区间全跨零</a:t>
            </a:r>
          </a:p>
          <a:p xmlns:a="http://schemas.openxmlformats.org/drawingml/2006/main">
            <a:r>
              <a:t>不能把趋势直接归因于连接密度</a:t>
            </a:r>
          </a:p>
          <a:p xmlns:a="http://schemas.openxmlformats.org/drawingml/2006/main">
            <a:r>
              <a:t>不分组Δ: 4.26</a:t>
            </a:r>
          </a:p>
          <a:p xmlns:a="http://schemas.openxmlformats.org/drawingml/2006/main">
            <a:r>
              <a:t>G2 Δ: 3.47</a:t>
            </a:r>
          </a:p>
          <a:p xmlns:a="http://schemas.openxmlformats.org/drawingml/2006/main">
            <a:r>
              <a:t>G4 Δ: 2.66</a:t>
            </a:r>
          </a:p>
          <a:p xmlns:a="http://schemas.openxmlformats.org/drawingml/2006/main">
            <a:r>
              <a:t>G8 Δ: 0.29</a:t>
            </a:r>
          </a:p>
          <a:p xmlns:a="http://schemas.openxmlformats.org/drawingml/2006/main">
            <a:r>
              <a:t>G16 Δ: 0.19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中心化SVD：最强点估计也有反例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中心化只改确定压缩方向的训练统计，运行时不减均值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同为中心化时Radon比普通高7.95pp，区间[+2.90,+12.99]</a:t>
            </a:r>
          </a:p>
          <a:p xmlns:a="http://schemas.openxmlformats.org/drawingml/2006/main">
            <a:r>
              <a:t>但中心化Radon两个分支概率损失变差，AUROC也下降</a:t>
            </a:r>
          </a:p>
          <a:p xmlns:a="http://schemas.openxmlformats.org/drawingml/2006/main">
            <a:r>
              <a:t>所以不能只用F1说“更好”</a:t>
            </a:r>
          </a:p>
          <a:p xmlns:a="http://schemas.openxmlformats.org/drawingml/2006/main">
            <a:r>
              <a:t>未中心化Radon: 71.79</a:t>
            </a:r>
          </a:p>
          <a:p xmlns:a="http://schemas.openxmlformats.org/drawingml/2006/main">
            <a:r>
              <a:t>中心化Radon: 73.96</a:t>
            </a:r>
          </a:p>
          <a:p xmlns:a="http://schemas.openxmlformats.org/drawingml/2006/main">
            <a:r>
              <a:t>普通通信: 67.53</a:t>
            </a:r>
          </a:p>
          <a:p xmlns:a="http://schemas.openxmlformats.org/drawingml/2006/main">
            <a:r>
              <a:t>中心化普通: 66.01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已有方法A再加桥：MMTM宿主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这才回答R&amp;B的“A + bridge”问题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三项自动顺序完成，296人预测重核通过</a:t>
            </a:r>
          </a:p>
          <a:p xmlns:a="http://schemas.openxmlformats.org/drawingml/2006/main">
            <a:r>
              <a:t>Radon有正向信号，但多项同时区间跨零</a:t>
            </a:r>
          </a:p>
          <a:p xmlns:a="http://schemas.openxmlformats.org/drawingml/2006/main">
            <a:r>
              <a:t>宿主选中第一阶段第0轮，是适用范围限制</a:t>
            </a:r>
          </a:p>
          <a:p xmlns:a="http://schemas.openxmlformats.org/drawingml/2006/main">
            <a:r>
              <a:t>MMTM继续训练: 66.01</a:t>
            </a:r>
          </a:p>
          <a:p xmlns:a="http://schemas.openxmlformats.org/drawingml/2006/main">
            <a:r>
              <a:t>MMTM+Radon: 70.86</a:t>
            </a:r>
          </a:p>
          <a:p xmlns:a="http://schemas.openxmlformats.org/drawingml/2006/main">
            <a:r>
              <a:t>MMTM+普通通信: 66.38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CMX / CMX-FRM：有数值，但不能扩大解释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CMX-FRM-init三臂完成；CMX-full保留identity入口限制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CMX-FRM-init同A三臂3/3完成并右侧独审</a:t>
            </a:r>
          </a:p>
          <a:p xmlns:a="http://schemas.openxmlformats.org/drawingml/2006/main">
            <a:r>
              <a:t>CMX-full只接受selected-best0 identity入口下的matched原数值</a:t>
            </a:r>
          </a:p>
          <a:p xmlns:a="http://schemas.openxmlformats.org/drawingml/2006/main">
            <a:r>
              <a:t>amax ties子梯度不等作者maxpool；不能写成完整非退化CMX成功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32层3D父模型与Ibex状态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训练链路贯通，但还不是六臂完成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32×224×224 OCT父模型完成数据读取、开发集与下一更新恢复预检</a:t>
            </a:r>
          </a:p>
          <a:p xmlns:a="http://schemas.openxmlformats.org/drawingml/2006/main">
            <a:r>
              <a:t>从93→147→1453→8734更新持续推进；断点新鲜</a:t>
            </a:r>
          </a:p>
          <a:p xmlns:a="http://schemas.openxmlformats.org/drawingml/2006/main">
            <a:r>
              <a:t>allocation数量不是完成实验数；旧128层Dense3D仍暂停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概率反例：F1与置信度不是一回事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多页结果都显示F1上升可能伴随NLL/Brier/AUROC变差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F1：分类对错的平衡指标；不是概率质量</a:t>
            </a:r>
          </a:p>
          <a:p xmlns:a="http://schemas.openxmlformats.org/drawingml/2006/main">
            <a:r>
              <a:t>NLL/Brier：看模型对真实答案有多自信、多校准</a:t>
            </a:r>
          </a:p>
          <a:p xmlns:a="http://schemas.openxmlformats.org/drawingml/2006/main">
            <a:r>
              <a:t>汇报必须说：即使F1提高，剩余错误更自信也可能让概率损失变差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工程与验收也是本周工作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没有这些，结果不能交付或不能信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状态字段严格校验拒收后修复，不放宽合同</a:t>
            </a:r>
          </a:p>
          <a:p xmlns:a="http://schemas.openxmlformats.org/drawingml/2006/main">
            <a:r>
              <a:t>磁盘不足迁移到授权存储并校验恢复</a:t>
            </a:r>
          </a:p>
          <a:p xmlns:a="http://schemas.openxmlformats.org/drawingml/2006/main">
            <a:r>
              <a:t>fit/resume/source/visual QA多轮修复，最终形成无嵌套ZIP与原生PDF/PNG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解释纠错：MMTM不是LOOK主A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用户指出后已撤回错误完成表述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LOOK主问题应是GAN伪模态/缺失鲁棒/EmbraceNet/IMD等缺失方法A + LOOK</a:t>
            </a:r>
          </a:p>
          <a:p xmlns:a="http://schemas.openxmlformats.org/drawingml/2006/main">
            <a:r>
              <a:t>MMTM和融合位置保留为宿主兼容性与组装机制</a:t>
            </a:r>
          </a:p>
          <a:p xmlns:a="http://schemas.openxmlformats.org/drawingml/2006/main">
            <a:r>
              <a:t>R&amp;B的A对应已有通信模块 + bridge，如MMTM+Radon、CMX-FRM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accepted / pending矩阵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讲结果时要把“已接受”和“未完成/有限接受”分开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老师问题怎么回答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先说问题，再说覆盖，再说缺口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 小队列来源：1264 train / 296 dev / 290 test；test封存，不编流失数</a:t>
            </a:r>
          </a:p>
          <a:p xmlns:a="http://schemas.openxmlformats.org/drawingml/2006/main">
            <a:r>
              <a:t>Q2 已有方法+A：LOOK现在有EmbraceNet/IMD组件路线，R&amp;B有MMTM/CMX路线</a:t>
            </a:r>
          </a:p>
          <a:p xmlns:a="http://schemas.openxmlformats.org/drawingml/2006/main">
            <a:r>
              <a:t>Q3 跨器官：脑MRI、ECG+cine MRI是方向，还没有成套许可/资产/基线</a:t>
            </a:r>
          </a:p>
          <a:p xmlns:a="http://schemas.openxmlformats.org/drawingml/2006/main">
            <a:r>
              <a:t>Q4 外部证据组织：参考MOME的内部→外院→读者/下游层级</a:t>
            </a:r>
          </a:p>
          <a:p xmlns:a="http://schemas.openxmlformats.org/drawingml/2006/main">
            <a:r>
              <a:t>Q5 不能说：跨种子、独立测试、外部泛化已证明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一页总结：上周不是“一个结果”，而是一套证据链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重点是范围完整、证据有界、下一步明确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LOOK：从搜索策略到缺失方法A，已有代表性正信号和概率反例</a:t>
            </a:r>
          </a:p>
          <a:p xmlns:a="http://schemas.openxmlformats.org/drawingml/2006/main">
            <a:r>
              <a:t>R&amp;B：从小队列六臂到机制拆分，再到大队列父模型推进</a:t>
            </a:r>
          </a:p>
          <a:p xmlns:a="http://schemas.openxmlformats.org/drawingml/2006/main">
            <a:r>
              <a:t>交付：从20页初稿到从零解释版，再到图解/完整周报版；旧科学边界不变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下一步：不再补同类漂亮图，补真正缺口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把老师问题对应的缺口转成有限任务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LOOK：EmbraceNet/IMD完整A + LOOK，独立测试前不扩大结论</a:t>
            </a:r>
          </a:p>
          <a:p xmlns:a="http://schemas.openxmlformats.org/drawingml/2006/main">
            <a:r>
              <a:t>R&amp;B：32层大队列父模型完成后做同父六臂，不拿小队列替代</a:t>
            </a:r>
          </a:p>
          <a:p xmlns:a="http://schemas.openxmlformats.org/drawingml/2006/main">
            <a:r>
              <a:t>报告：主讲用图解，附录给完整矩阵和来源，避免漏positive tree这类关键工作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dbbba90684e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c56a839012408c" /><Relationship Type="http://schemas.openxmlformats.org/officeDocument/2006/relationships/slideLayout" Target="/ppt/slideLayouts/slideLayout1.xml" Id="R55c1ce3f66514a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c1ce3f66514a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ff12bb30e4685" /><Relationship Type="http://schemas.openxmlformats.org/officeDocument/2006/relationships/notesSlide" Target="/ppt/notesSlides/notesSlide1.xml" Id="R2b24179e560e4a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d5fd980b44696" /><Relationship Type="http://schemas.openxmlformats.org/officeDocument/2006/relationships/notesSlide" Target="/ppt/notesSlides/notesSlide2.xml" Id="Rf08b02d51e7b46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8b6dbe0ea4df0" /><Relationship Type="http://schemas.openxmlformats.org/officeDocument/2006/relationships/notesSlide" Target="/ppt/notesSlides/notesSlide3.xml" Id="Rc8a8c2cab26a4b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76cf2faab4745" /><Relationship Type="http://schemas.openxmlformats.org/officeDocument/2006/relationships/notesSlide" Target="/ppt/notesSlides/notesSlide4.xml" Id="R0c04ef2b9a114e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5112b838b48f0" /><Relationship Type="http://schemas.openxmlformats.org/officeDocument/2006/relationships/notesSlide" Target="/ppt/notesSlides/notesSlide5.xml" Id="R92f5cf32e4b44a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7662dce6f4900" /><Relationship Type="http://schemas.openxmlformats.org/officeDocument/2006/relationships/notesSlide" Target="/ppt/notesSlides/notesSlide6.xml" Id="R48d999a0b41b4d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62f0783c24e44" /><Relationship Type="http://schemas.openxmlformats.org/officeDocument/2006/relationships/notesSlide" Target="/ppt/notesSlides/notesSlide7.xml" Id="R7787cf09ee8e4e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7031322324998" /><Relationship Type="http://schemas.openxmlformats.org/officeDocument/2006/relationships/notesSlide" Target="/ppt/notesSlides/notesSlide8.xml" Id="R84374fe7acae4d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1ac3a32164ff2" /><Relationship Type="http://schemas.openxmlformats.org/officeDocument/2006/relationships/notesSlide" Target="/ppt/notesSlides/notesSlide9.xml" Id="R0b90228623fd4f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f8abde595437a" /><Relationship Type="http://schemas.openxmlformats.org/officeDocument/2006/relationships/notesSlide" Target="/ppt/notesSlides/notesSlide10.xml" Id="R85deb8ea657040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1acfcf5f2484d" /><Relationship Type="http://schemas.openxmlformats.org/officeDocument/2006/relationships/notesSlide" Target="/ppt/notesSlides/notesSlide11.xml" Id="R7a6a1ae826ea42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a3196e4ee4fdb" /><Relationship Type="http://schemas.openxmlformats.org/officeDocument/2006/relationships/notesSlide" Target="/ppt/notesSlides/notesSlide12.xml" Id="Rda1e0c486d1348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2d225f41245d5" /><Relationship Type="http://schemas.openxmlformats.org/officeDocument/2006/relationships/notesSlide" Target="/ppt/notesSlides/notesSlide13.xml" Id="Reabcbab2b97c4b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bbfdcaf0e440d" /><Relationship Type="http://schemas.openxmlformats.org/officeDocument/2006/relationships/notesSlide" Target="/ppt/notesSlides/notesSlide14.xml" Id="R37c1b517a3d94f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bf6a3c1f3465d" /><Relationship Type="http://schemas.openxmlformats.org/officeDocument/2006/relationships/notesSlide" Target="/ppt/notesSlides/notesSlide15.xml" Id="R4b2f6ce061ef40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a9f7a0c0941e7" /><Relationship Type="http://schemas.openxmlformats.org/officeDocument/2006/relationships/notesSlide" Target="/ppt/notesSlides/notesSlide16.xml" Id="Rc78b7fb4a15d4a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c90bfe1564ccc" /><Relationship Type="http://schemas.openxmlformats.org/officeDocument/2006/relationships/notesSlide" Target="/ppt/notesSlides/notesSlide17.xml" Id="Rd64556b7445c46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2e6e65ddd4011" /><Relationship Type="http://schemas.openxmlformats.org/officeDocument/2006/relationships/notesSlide" Target="/ppt/notesSlides/notesSlide18.xml" Id="R74d40a30249e4c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8c1a58a3e49e5" /><Relationship Type="http://schemas.openxmlformats.org/officeDocument/2006/relationships/notesSlide" Target="/ppt/notesSlides/notesSlide19.xml" Id="R8325cce4596946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c27d99354453e" /><Relationship Type="http://schemas.openxmlformats.org/officeDocument/2006/relationships/notesSlide" Target="/ppt/notesSlides/notesSlide20.xml" Id="Rac1cdb2436b043d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f5696ecfb4d29" /><Relationship Type="http://schemas.openxmlformats.org/officeDocument/2006/relationships/notesSlide" Target="/ppt/notesSlides/notesSlide21.xml" Id="R2f621f12867b478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bacc69d4e4a6d" /><Relationship Type="http://schemas.openxmlformats.org/officeDocument/2006/relationships/notesSlide" Target="/ppt/notesSlides/notesSlide22.xml" Id="Rf595a243371d4a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101e4a2bf4997" /><Relationship Type="http://schemas.openxmlformats.org/officeDocument/2006/relationships/notesSlide" Target="/ppt/notesSlides/notesSlide23.xml" Id="Rffbff62da46f4a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cfc1fccb74720" /><Relationship Type="http://schemas.openxmlformats.org/officeDocument/2006/relationships/notesSlide" Target="/ppt/notesSlides/notesSlide24.xml" Id="R6534af8535084e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4ad9df3a44e91" /><Relationship Type="http://schemas.openxmlformats.org/officeDocument/2006/relationships/notesSlide" Target="/ppt/notesSlides/notesSlide25.xml" Id="R00e9923dd7174e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ef5927c8743d8" /><Relationship Type="http://schemas.openxmlformats.org/officeDocument/2006/relationships/notesSlide" Target="/ppt/notesSlides/notesSlide26.xml" Id="Raa70a6d1a7694b7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6addb3bb94827" /><Relationship Type="http://schemas.openxmlformats.org/officeDocument/2006/relationships/notesSlide" Target="/ppt/notesSlides/notesSlide27.xml" Id="R3e0b59c4ad4546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bbd8a54ab4e87" /><Relationship Type="http://schemas.openxmlformats.org/officeDocument/2006/relationships/notesSlide" Target="/ppt/notesSlides/notesSlide28.xml" Id="R3f4396875c434f3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7bdc915354f14" /><Relationship Type="http://schemas.openxmlformats.org/officeDocument/2006/relationships/notesSlide" Target="/ppt/notesSlides/notesSlide29.xml" Id="R2d19aa2318a348c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12e7262484929" /><Relationship Type="http://schemas.openxmlformats.org/officeDocument/2006/relationships/notesSlide" Target="/ppt/notesSlides/notesSlide30.xml" Id="R6af27d2ee3db4e2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4616bca324ba2" /><Relationship Type="http://schemas.openxmlformats.org/officeDocument/2006/relationships/notesSlide" Target="/ppt/notesSlides/notesSlide31.xml" Id="Rbbf69db6f84b40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546E1-8170-48E4-B8CE-7AEB525B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完整周报：上周到底做了什么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EF1A8-AE7A-45BF-B314-8EA781DC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D6620-5437-479C-8F2C-AAF5CC08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01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E55C8-0ADF-412F-986A-43A08E4D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DDCA6-E5E7-49CB-92FE-7EC90553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不是只讲两个方法，而是LOOK、R&amp;B、工程交付三条线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CA6A2-A946-4489-9B63-BBB801E4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44743-E3E1-4C59-ADB9-4F4E2836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05B9B-B055-47B5-9D29-754C1601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覆盖9月14日至9月20日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F2723-0A8E-4B79-9FB1-9CF884B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BEBAE-2EA8-4802-8EC5-40DF0DFA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ADEF3-48BB-4BCD-AD50-99A97FF2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把positive tree、72项固定均值、Ibex四树、R&amp;B分组/中心化全部补回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B7990-E818-481E-B2B6-DF4DBCC9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25CE1-67F7-4106-AD0C-3D61B650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1C6C6-FB74-41E8-B48D-9D6B77BB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仍保持测试集封存与科学边界</a:t>
            </a:r>
          </a:p>
        </p:txBody>
      </p:sp>
    </p:spTree>
    <p:extLst>
      <p:ext uri="{BB962C8B-B14F-4D97-AF65-F5344CB8AC3E}">
        <p14:creationId xmlns:p14="http://schemas.microsoft.com/office/powerpoint/2010/main" val="1878752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1F4B0-7683-4998-A59B-5F7C83DC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一页看全局：三条主线并行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201A3-FBB1-4A64-90E2-2EC65D4F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4EF0C-42F5-47D3-878D-189DE3AE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02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97E64-8930-4558-9C84-38D503B1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0AA91-7737-4BAB-921D-0A524524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LOOK解决缺输入；R&amp;B解决两路通信；工程线保证证据可验收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BD4E9-1A3A-46A7-9377-B0AD488D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79A40-0BEE-44D9-90AE-9ABF8A59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5736C-E733-458C-9E08-1683BF2D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LOOK：缺OCT/缺CFP时，拟合线性修正并搜索有收益位置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1F763-CF22-4B77-B80A-7F1105C4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E784B-1F50-49DC-97A2-31FF5F71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691D2-F3B1-4C16-9ADB-8FC1DD1B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R&amp;B：两分支都在时，比较Radon桥、普通通信、已有通信模块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A8E60-92F1-47AF-A84E-8C0C0BEE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7758F-E89B-4F37-BD8C-22270B8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B5984-7533-4E74-880B-91C848E7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工程：资源、恢复、发布、PPT/讲稿/来源索引逐步修到可交付</a:t>
            </a:r>
          </a:p>
        </p:txBody>
      </p:sp>
    </p:spTree>
    <p:extLst>
      <p:ext uri="{BB962C8B-B14F-4D97-AF65-F5344CB8AC3E}">
        <p14:creationId xmlns:p14="http://schemas.microsoft.com/office/powerpoint/2010/main" val="1896352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222FF-B422-4C25-918C-11C48CD2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时间线：从清单到可审证据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12C66-60EA-4EDE-9F48-05B0EF2D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时间线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7106E-12CD-4E30-8169-4B6A6A7A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03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CC8D8-DEE0-40CE-B23F-C7480566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0EEA5-5649-4A72-A574-BDA9039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每一天的关键词不一样：盘点、末端、拟合、树、对照、交付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E6E57-7AA4-433D-A6A2-1F9E9B2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AB62B-76E8-4B4F-BF8F-B0C7FBA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CC506-F594-47DB-B836-1885BC54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04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9/14 盘点全流程与降维方案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6975C-075F-44CA-898A-7C695A2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176CD-AA85-496C-8147-2C59D854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C9B4D-569D-4135-95A2-5445C0DB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240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9/15 末端修正与结果汇总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A5C95-248C-4FFE-B201-63A5117B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453A6-9B07-4B4E-8355-F1CB656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819D6-D5DF-480A-9742-F12D68D1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9/16 拟合家族与搜索策略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1286C-995D-4C12-8B95-864373F0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CF04A-6408-41F7-890D-CC98F083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69891-AC89-4B7B-9758-138C00EF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623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9/17 positive tree与32层3D风险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1039E-5AAD-40E2-9FCB-23695988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A2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76A46-D25F-465C-80AC-DFDA13B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94833-2248-44D1-B306-E4D6E41D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9/18 树搜索完成、方法比较、R&amp;B六臂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7000B-52E9-483E-B47D-393221DF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42C7B-B847-49F2-B458-5E4D4D97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90E80-7FC8-4ECC-B108-2813CBE6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005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9/19 分组/中心化/融合/32层父模型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2A6BB-ADFF-460B-9FE1-63E69E89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B31DF-68C1-42C7-8566-79E8A42F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86400"/>
            <a:ext cx="190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48DB4-C62A-4828-9C73-1A38485D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9/20 IMD/CMX完整组与交付链</a:t>
            </a:r>
          </a:p>
        </p:txBody>
      </p:sp>
    </p:spTree>
    <p:extLst>
      <p:ext uri="{BB962C8B-B14F-4D97-AF65-F5344CB8AC3E}">
        <p14:creationId xmlns:p14="http://schemas.microsoft.com/office/powerpoint/2010/main" val="721269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8C27F-1C06-44BB-8610-314C82FC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眼科输入先讲清楚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B5132-192D-48F6-9218-E83FE3F1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D7944-2AA0-4CCA-8F09-B2C7624F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04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2396A-6A2F-4C60-9B6B-D5541CC5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479AC-05EF-47A4-ABEE-2CF6FD75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CFP是眼底照片，OCT是断层/体层；两个项目处理的问题不同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411F1-240C-47E5-A676-0B805421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5D5CC-86AE-4EE3-8F82-74034D71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E3C02-6C6F-4C3D-8A79-BFA0576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LOOK：缺少一种输入时，能否修正内部数字，让结果更像完整输入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C04CF-5F04-4C14-83A8-585FB63B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9AD2A-50EA-4AFA-8655-1211728A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67EC3-4137-4C04-BAC8-FD804725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R&amp;B：两种输入都在时，能否让两条支路交换信息，提高判断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E3E6A-5D95-40CF-A7F7-3D22DA7D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E3AF-CBEF-4CFA-B4F3-D5E7FFA8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FD4E2-AF12-4705-96A2-05F88821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本周多数结果仍是开发集、单种子或单配置，不是测试集结论</a:t>
            </a:r>
          </a:p>
        </p:txBody>
      </p:sp>
    </p:spTree>
    <p:extLst>
      <p:ext uri="{BB962C8B-B14F-4D97-AF65-F5344CB8AC3E}">
        <p14:creationId xmlns:p14="http://schemas.microsoft.com/office/powerpoint/2010/main" val="1043107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BFD34-8906-4865-BA4A-5E8B8EA9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证据规则：先公平，再谈提升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73105-B932-4A69-B5D4-C6F01BEE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07127-4E4F-4260-B029-72044750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05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2BC80-9326-48D7-AA43-0B3EC5E4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2BBB5-87D8-4F7A-B7D1-540DA9FC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所有结果都按同父模型、同数据划分、同开发集选择来解释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36A6A-7EA4-4B50-BDE8-E6AC8DB9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90DCE-E7D7-4969-9DB9-51097153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8D71C-A9BC-4071-953B-C8BE48C4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Macro-F1提升不等于概率质量改善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DE92E-6C5E-4869-A9D2-175268C3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3AFBF-A09F-4BD3-BE9B-72D6BCB2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467EC-71BF-4230-B9F8-0D21C0F1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同时区间跨零时，不能宣称稳定优越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C43F7-E780-458D-9B38-627F37FE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B6F92-6C28-4B4D-A308-3AC6AB4B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44BAA-1A15-49F0-B888-FAC9802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test全程封存；开发集既选路径又报指标，所以结论有界</a:t>
            </a:r>
          </a:p>
        </p:txBody>
      </p:sp>
    </p:spTree>
    <p:extLst>
      <p:ext uri="{BB962C8B-B14F-4D97-AF65-F5344CB8AC3E}">
        <p14:creationId xmlns:p14="http://schemas.microsoft.com/office/powerpoint/2010/main" val="929769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315E5-B48C-4E3E-92FA-8731A9E2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LOOK主流程图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02047-33BA-48B8-9F9D-18134DDA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91775-500A-410A-81D2-E3CDC75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06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D828C-8FA9-401F-911E-98179022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1EE21-02C9-42DA-AA64-87C4D660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缺输入 → 拟合补偿 → 逐层搜索 → 配对统计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A6231-8B0B-4D6E-8D43-CB2EB947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C8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0FA6B-B57D-409C-AF08-E06E1A6E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原模型训练完成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8457F-C761-42A7-85E2-B959C56F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4A144-9417-441A-8667-74B2F185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91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14450-746E-4AA9-802C-0E1366BD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缺OCT/缺CFP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76547-E5F9-4A81-8065-28C1A4CE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701F8-B043-4B62-8E4D-4BF5384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C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B9473-941B-450D-8CEC-C48B8DCD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PCA或残差拟合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2633E-EE96-445C-AA2E-E5C45685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9C4C9-1ADF-4E05-879C-CE0953DB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918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B122D-46B4-45A1-9F4A-F6FF3EDF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best/positive tree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9C07A-F5A7-4345-82D2-BD7E35CC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EC836-A910-4D97-992E-D4421514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C8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26857-1C6F-4F98-B48A-E81E9FC5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10k配对区间</a:t>
            </a:r>
          </a:p>
        </p:txBody>
      </p:sp>
    </p:spTree>
    <p:extLst>
      <p:ext uri="{BB962C8B-B14F-4D97-AF65-F5344CB8AC3E}">
        <p14:creationId xmlns:p14="http://schemas.microsoft.com/office/powerpoint/2010/main" val="665594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6F4FC-F676-4737-954F-3A019A56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为什么必须讲positive tree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3DFCD-EAC1-4DB0-BEA3-6DDDC7D1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LOOK搜索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C2363-2095-46A5-9A01-B5D255D9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07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8F3D4-2627-44B0-B2CF-3224791E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BD68F-A0A8-4F62-AB0E-6DAE9A41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只选当前最好位置会漏掉“第一步小、后面更好”的路径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DE729-4FAA-4CF2-A9B2-89138E42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EA3F4-02EC-4986-9CAC-7919DD4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493B9-16D5-4ED9-9D0A-DA90BFEE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best-forward：每次只接着当前最佳位置继续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E0A4B-316B-4786-81BA-6941DC5D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C817B-717D-41C0-9CE8-25B2FB5E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5107A-170B-455B-BF1C-B4778E77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positive-forward tree：保留所有有正收益的分支，再沿各自下游继续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F23B4-FBBF-4756-A17F-56A94966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12DD8-0E50-40AF-B652-A0C8C2C9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99984-EBAE-4E1D-ADBB-36FB5F75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关键约束：每条分支必须用它自己的修正特征，不能套别的缓存</a:t>
            </a:r>
          </a:p>
        </p:txBody>
      </p:sp>
    </p:spTree>
    <p:extLst>
      <p:ext uri="{BB962C8B-B14F-4D97-AF65-F5344CB8AC3E}">
        <p14:creationId xmlns:p14="http://schemas.microsoft.com/office/powerpoint/2010/main" val="1784122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7F03B8-1383-4060-B8CE-3B8C7BCB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positive tree的首个完整结果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46E66-8C0D-4C0E-89A3-A1C83CA0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60163-013B-449D-86FD-FFB202A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08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54B9B-B7AA-4FED-BD3B-D60F0A89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4F732-611C-4B38-BE4B-4E4D08A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白内障R50深层融合；12,510名开发集；单种子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F21F9-9D2D-4629-BF04-700306DF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缺OCT 原始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E25BE-A78D-47ED-A51E-26F99AD4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3DEF7-E3A7-4C5E-AFD8-4A4D7CC7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400856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2BC14-6B2B-403D-9BDA-FC6D0320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19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71.3%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F5905-59FC-457C-884C-651B454B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缺OCT +LOOK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D885B-2773-4F84-8F55-42A43C75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02E2B-EBE9-4660-A3A7-981A496D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424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26CED-842A-4CFC-B05E-13CA0762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75.5%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D39DF-66BB-4ED6-B5A5-E94F236D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缺CFP 原始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F3461-A69D-42E2-B463-B58CFE02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2883B-7913-4B52-B517-9AF3FC54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298633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3C830-02B4-4CB3-9DC8-C67B10D3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86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53.1%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C4118-730D-4311-B6CC-1D1955A3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缺CFP +LOOK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F977F-5264-479A-A161-7242FE87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2F9524-C975-4DBB-A11C-B524C695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32375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6F9B5F-D7FE-4437-AB7B-4BD3362B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194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57.6%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53394-693A-4285-8BF9-CB72FDF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0525125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07EA7D-A091-447D-BEB2-90A8B69F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48823-3444-4D9B-AB6A-2F3D741B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33825"/>
            <a:ext cx="9667875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缺OCT：+4.13个百分点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EADD9-FC7B-4818-84DB-AC69D3C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5500"/>
            <a:ext cx="10525125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4EC9C2-C24F-4B4F-850F-3A60ED7B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5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A68B0B-9216-438E-90F3-EB83A295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78375"/>
            <a:ext cx="9667875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缺CFP：+4.47个百分点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E31703-F7A4-439F-8F45-CCF80B88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0050"/>
            <a:ext cx="10525125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21202-9CE8-4654-9A61-5EC70224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8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4F019-23E0-4AFA-AB9E-B8271C5A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22925"/>
            <a:ext cx="9667875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但缺CFP时AUROC与概率指标变差：不能只报F1涨分</a:t>
            </a:r>
          </a:p>
        </p:txBody>
      </p:sp>
    </p:spTree>
    <p:extLst>
      <p:ext uri="{BB962C8B-B14F-4D97-AF65-F5344CB8AC3E}">
        <p14:creationId xmlns:p14="http://schemas.microsoft.com/office/powerpoint/2010/main" val="1276644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4FF18-D45D-4735-8D6B-5C2397FC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拟合方法：PCA方向 vs 自由低秩残差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AFBC-A8D4-41C3-8662-F1FCBB21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LOOK拟合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285F3-0B11-4D5D-8DD8-CA3CDA88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09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48B3-DC2D-4481-8D77-51DDF679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8C845-778B-444A-9547-238A767F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二者都不重训原神经网络，但都要用训练数据拟合修正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E7057-0CEA-4F24-9D2D-2413FF89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FDFA3-6E34-4B9F-9FA1-A1E09BCF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2E24F-3831-4ECE-BA35-7F5026A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PCA自由均值：在完整输入的主要变化方向里拟合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1475A-F491-413A-93DF-83A738D6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267C9-5F6D-4009-9315-51889929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F7421-96A6-4272-AFEC-72145504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残差RRR自由均值：从缺失差距中学习低秩修正方向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E5556-7FD5-485C-881D-1BEB24A3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1B270-C341-4867-9DEB-24DF9A2C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ABDA9-3228-4650-A88B-9B47D73F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核心问题：换拟合家族本身是否改变结果，而不是换数据/换宿主</a:t>
            </a:r>
          </a:p>
        </p:txBody>
      </p:sp>
    </p:spTree>
    <p:extLst>
      <p:ext uri="{BB962C8B-B14F-4D97-AF65-F5344CB8AC3E}">
        <p14:creationId xmlns:p14="http://schemas.microsoft.com/office/powerpoint/2010/main" val="9215344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77E69-B4BC-4FDB-83A6-ADD31BB9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小队列R18/R50：方法排序会反转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0B87A-57DC-47EB-8A3A-8234F1EE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LOOK小队列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E0B17-E9B6-423B-901D-40DF3AE1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10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72C9C-6F82-4EC1-B7FD-B0293406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2EE08-40EA-41B0-92D2-AEF57F2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296人开发集，用来发现机制，不是最终泛化证明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B0D51-9217-412D-817C-728E1DF7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R18缺OCT PCA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0D18B-E22E-40A1-83FF-D54E8598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A37B0-31F6-4EAB-8892-3D936233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389111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158DF-555C-4D82-8FA6-C057A692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19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69.2%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6A4AB-3A8E-439D-B390-74BFE44A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R18缺OCT 残差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30CAA-1540-4C58-9912-E1F45C30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6E3D1-DAAF-49EE-9157-312CD77F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375230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4508D-F496-4E19-A965-414A905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5DB8F-981D-4F8E-AB70-5CBD75E4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R18缺CFP PCA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2343D-8263-4EC9-95A2-C33D2BC6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A07AD-4FB5-4AB5-A53F-587D1C35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337297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CEBA1-8A93-4472-AD6D-AE9AE192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86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60.0%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D9199-C490-428C-A24F-36BDA697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R18缺CFP 残差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9A96-DB7D-4DA1-AF1D-A4EEBB58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D7316-87DE-4D08-BB84-E9997B92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344884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EC4CE-1BF3-4162-9955-2FCD5CC6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194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61.4%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5E1CE-301D-4A7B-A2C8-4988BDBA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0525125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8D3E0-0B99-4B00-ACF9-FC435A64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5339F-8EDA-4D6C-8A1D-6FDF3D57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33825"/>
            <a:ext cx="9667875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缺OCT时PCA更高，缺CFP时残差更高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EB4BC4-3761-47AC-A143-9EB5285E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5500"/>
            <a:ext cx="10525125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04E2E-1EB2-4BDD-A6F2-DA42E5E6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5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05D85-1014-4CC6-9EB3-83FF9F06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78375"/>
            <a:ext cx="9667875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差值区间不足以判定统一胜者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E01618-11EE-42AD-9751-26E98F1D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0050"/>
            <a:ext cx="10525125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63CBDF-C8FD-4BBC-A2DA-AC06790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8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6C8E47-3550-4214-A229-17022252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22925"/>
            <a:ext cx="9667875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R50和R18不可混成一张“稳定排名”</a:t>
            </a:r>
          </a:p>
        </p:txBody>
      </p:sp>
    </p:spTree>
    <p:extLst>
      <p:ext uri="{BB962C8B-B14F-4D97-AF65-F5344CB8AC3E}">
        <p14:creationId xmlns:p14="http://schemas.microsoft.com/office/powerpoint/2010/main" val="966503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C2AB1-90C4-4375-97F6-0D6727A2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72项固定均值控制：不是漏项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90697-DAC0-414F-B8B3-505D3803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LOOK诊断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F45E8-BCFC-4628-A246-4612C029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11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75DD7-E964-4571-80E4-36124E6A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31510-185D-418B-9EC9-0AD04B1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它回答“收益来自方向还是均值/正则/位置选择”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CC6BD-CEF9-402C-8728-0716465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A9EE5-C114-4742-AA8F-A111F07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1E52D-952B-4B40-B732-7E54F638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复用两个ResNet18宿主的根候选，不新增模型训练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F5ADB-5BFE-44FE-BC06-6300E13F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6B7BF-FF9C-4167-8927-C8B42041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F4CC8-3A20-4E21-BCE1-1A90C451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72项固定均值对照全部结束并独立重算通过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15F75-4F99-4250-8874-CE540F1D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6C69E-EA3F-4384-B676-EFC57B08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A3A0F-CBC8-45EE-8D0D-B4060F50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58项自由均值F1较高、10项较低、4项相同；条件相关，不能当独立投票</a:t>
            </a:r>
          </a:p>
        </p:txBody>
      </p:sp>
    </p:spTree>
    <p:extLst>
      <p:ext uri="{BB962C8B-B14F-4D97-AF65-F5344CB8AC3E}">
        <p14:creationId xmlns:p14="http://schemas.microsoft.com/office/powerpoint/2010/main" val="17999592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178E0-88BD-44C2-9B24-4F8C932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融合位置实验：中层/向量/深层都要讲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BB251-E8EC-46F8-90C7-9566E951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LOOK融合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FBBD4-39BD-4EAB-8133-E449D60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12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1AD10-1D57-4B0C-A210-F9494309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D6A99-5D08-4233-A4D8-D39A1FA5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不是所有更大涨幅都代表更好宿主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69606-00E2-484C-AB65-7F9C96B5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F7D43-C41F-42C9-B17A-55A75F91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7D247-8B45-4B23-9B45-CE56D37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中层缺OCT从33.33%升到63.67/65.67，但深层对应69.24/66.77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61FB6-ADAC-4850-922A-8E3B9498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85CC2-F073-475F-8978-8CBDBEE8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8B87A-A249-46D4-9FD8-1152C35B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每眼向量与深层四项收益差区间跨零，不证明等效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F26B1-5B14-49D7-B39B-A8D5AA00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DECE5-11D4-4634-9D40-E5999BF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8EC96-776A-4B4B-9DC0-FE14CF08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深层缺OCT NLL从1.0803恶化到1.6217/2.5447，概率反例必须保留</a:t>
            </a:r>
          </a:p>
        </p:txBody>
      </p:sp>
    </p:spTree>
    <p:extLst>
      <p:ext uri="{BB962C8B-B14F-4D97-AF65-F5344CB8AC3E}">
        <p14:creationId xmlns:p14="http://schemas.microsoft.com/office/powerpoint/2010/main" val="10915177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34CA5-2076-4B84-9F3C-AAC4E0B6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真实缺失方法A：EmbraceNet合同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1EAFA-DBF5-4082-9F2E-90C6153F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ABF86-72D2-4664-9EFA-4D736BC9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13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95A86-DB36-429D-A6A5-6D88C219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63045-619C-497F-A02B-35F5F247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老师要的是“已有缺失方法A + LOOK”，不是任意宿主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89DEA-B48C-4A86-B9E6-6F55784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1441B-80D2-4DCC-A085-89A1EE0C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92AFD-F512-45A9-8979-D4DE68B1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EmbraceNet固定作者commit、随机multinomial语义，不替换为均值网络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F3938-2E3E-4125-87CC-2F446152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62D7A-B6E6-4250-8337-5140162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AE9AB-DDF8-4936-9440-FDCC4F06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计划同一A checkpoint，缺失状态逐draw复用精确indices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E21C6-9186-4DC6-8038-C2A33BAC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2C324-FD94-4868-ACF5-9FAC7627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D0CCB-DC88-401A-8DAB-0DDFF942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65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9个LOOK节点从joint_input到embraced_feature；未来完整positive tree可在此展开</a:t>
            </a:r>
          </a:p>
        </p:txBody>
      </p:sp>
    </p:spTree>
    <p:extLst>
      <p:ext uri="{BB962C8B-B14F-4D97-AF65-F5344CB8AC3E}">
        <p14:creationId xmlns:p14="http://schemas.microsoft.com/office/powerpoint/2010/main" val="1728739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5FBF4-E38A-4EB6-A404-1D55821F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IMD组件A：已经完成但身份有限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902B1-A17F-4119-9D1D-F4C4557A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573A4-58BF-4E5B-AB6A-61942A7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14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8D4BF-143A-4EB8-B8F7-E6888A87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4266A-2A91-4E4A-8519-04CBE955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target-task组件A best13/stop28；PCA/RRR×双缺失四树与10k统计完成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0C03F-5D5D-4760-B8FB-4DF105F9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23D4B-6C51-4103-B5BB-00448B47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41BA7-33BD-4BB5-A8BF-5A07945D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右侧独审通过，但方法身份限制保留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4032B-E2F3-43E4-8C3D-7D90307D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BFCD8-8A33-44DA-B3EA-DCDDABBF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97C25-CB85-4524-8AF8-0531AD66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不能把IMD组件直接写成完整staged contrastive→dropout方法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152A5-B2DF-43C1-9F10-4A5CB804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BB60E-9838-4004-BE3F-32F0373E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2D041-8A7E-4EB6-AFE3-0C7DD629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R3 fit admission仍未接受：资源、恢复、cache写入等风险未完全闭合</a:t>
            </a:r>
          </a:p>
        </p:txBody>
      </p:sp>
    </p:spTree>
    <p:extLst>
      <p:ext uri="{BB962C8B-B14F-4D97-AF65-F5344CB8AC3E}">
        <p14:creationId xmlns:p14="http://schemas.microsoft.com/office/powerpoint/2010/main" val="1947561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E0165-1CB5-4130-979B-957742F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Ibex大队列：四树不是一句“有提升”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7D2D9-46F8-48EA-B7E8-A921F14E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LOOK Ibex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AE3EC-3147-4DDF-A840-470AC009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15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33575-9EBA-430B-BA90-DF675471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6DBA4-F27A-4C1A-9C81-2986978A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白内障R50深层；12,510人开发集；2种方法×2种缺失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B8E75-D4AE-408E-9D32-572340B8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D36A0-91A0-46A4-AA06-4298C3F2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DBF01-B10D-42B9-B539-7CC7715A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四棵free-mean完整树：1505文件、321源码pin、274预测检查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C3128-026E-4498-872D-CAB8D07D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2E250-3A75-43B9-92D0-554306C0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A881D-6C27-4EB4-BAA2-38BCBBFB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4树/91前缀/179候选，四指标+10k配对区间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8387B-6B9D-46CE-AA8E-EE11F92D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826D7-B85A-48EC-8D1F-E8815186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03D03-A866-442B-B56D-50BED40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PCA与残差F1均正；但缺CFP PCA概率指标恶化，残差改善，不能泛化成一句</a:t>
            </a:r>
          </a:p>
        </p:txBody>
      </p:sp>
    </p:spTree>
    <p:extLst>
      <p:ext uri="{BB962C8B-B14F-4D97-AF65-F5344CB8AC3E}">
        <p14:creationId xmlns:p14="http://schemas.microsoft.com/office/powerpoint/2010/main" val="17140485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F4CA7-171D-418D-8C66-34F46456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LOOK本周边界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AB988-5C52-4F78-9AED-6A84FF6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AAD70-1CF1-4DDE-A111-918BCFD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16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FC68D-ECEE-409C-B32A-CB1EC6CD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EF492-8BB6-4966-9357-9198F510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这周证明了“有代表性正信号”，没证明“方法已稳定胜出”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1440E-7595-488D-AD03-D4BA0E87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AE12E-83BF-488F-B207-8CA5B2E3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C5345-0096-4182-9D8F-CA56A35A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单种子/开发集选择/同任务开发集报告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4AF82-722C-4906-ADA1-1663D1DE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8A194-3875-4895-A416-40F101E1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42C91-CCB4-447E-A481-8F5EB561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概率指标常与F1方向不一致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2F203-1F2C-4DBF-9AF4-4FFBD14B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DA657-1D50-40B1-AE04-4762C70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AE22E-DE08-41C2-A397-6646BCF7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下一步应是外部缺失方法A的语义匹配与独立测试，而不是继续堆同类参数</a:t>
            </a:r>
          </a:p>
        </p:txBody>
      </p:sp>
    </p:spTree>
    <p:extLst>
      <p:ext uri="{BB962C8B-B14F-4D97-AF65-F5344CB8AC3E}">
        <p14:creationId xmlns:p14="http://schemas.microsoft.com/office/powerpoint/2010/main" val="9961799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0C780-A0F2-4D38-8E48-A7328CB9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R&amp;B主流程图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0B212-D32F-454F-B16F-0B07F74F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R&amp;B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097F4-ECCE-4029-B2D8-FEB8DC03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17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6A30B-51CB-4C8D-9BCE-62366CD9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EA5F1-F84F-4B3D-BA1B-8E8A8867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两条分支都在时，把信息放到统一通信空间再回到分支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98021-8500-4117-89D7-2B394551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C8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5A102-4B05-45EC-A0C0-374B10D9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CFP分支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BBDD3-985E-4DB6-B916-708709B4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D2FEE-50DC-4429-A817-939D63D2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91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49770-AF25-49F0-8498-A6261024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OCT分支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90CAE-D18F-4F76-8679-8582FF5E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8DA05-3E74-4EAD-BCD3-6C45DC07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C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B6F1A-9778-448D-8078-20222C02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投影/压缩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2EEBA-4862-445A-9670-B066924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A0639-59D1-48E7-91BD-DE5476E9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A918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DD94B-01BF-4DE5-8E1D-2EF9B379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Radon或普通通信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F269B-9241-4CC4-80B3-325C55C1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19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8F978-E4ED-4045-9D78-7E9191E8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6C8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4A2DD-8361-4BFC-9383-E13262E8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双分支指标</a:t>
            </a:r>
          </a:p>
        </p:txBody>
      </p:sp>
    </p:spTree>
    <p:extLst>
      <p:ext uri="{BB962C8B-B14F-4D97-AF65-F5344CB8AC3E}">
        <p14:creationId xmlns:p14="http://schemas.microsoft.com/office/powerpoint/2010/main" val="11823305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91E41C-C021-4848-B4CF-C0638A13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R&amp;B六臂基础对照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DF3B1-34BC-498F-B536-6192A92B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R&amp;B六臂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AC264-A317-4B5A-BD44-87287D05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18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37FCF-4F7C-4B34-BFD1-6E15F38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D57A4-7F1F-4165-907F-55232C96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无通信、SVD-Radon、普通通信、自身处理、MMTM、交叉注意力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ECCA8-328A-4F9A-A2C4-ABFF9A45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无通信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2BC77-A95F-4248-9E49-5AAEE823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C6F9C-9B75-4644-AD5F-A9D1BE0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370959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22071-06CB-4C0E-AD5A-D0C5095A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19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B10F0-3DC7-4D25-9483-30643B6F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SVD-Radon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08F9E-629B-48CD-95AE-7826647B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1BE4E-F54D-414E-823E-0E5A2719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403441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EA32A-F86C-494C-8961-B5D5BE4E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71.8%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EA2C4-AD73-4FAD-ACC3-B6136039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普通通信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1BF41-EE90-4832-9B8E-7DC96D9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4B9E1-95EE-4CE8-A087-2CEF2EE7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379501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7F1E0-5642-4EBF-97C4-616EED2D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86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67.5%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EB888-E19F-4635-BC24-87FFE440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自身处理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8CB6E-E066-4080-A30D-8F4092C4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21991-94CA-482A-95D3-311A6189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370959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9CE4D-6066-4325-B32E-BC9A690F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194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379E7-29CC-4B03-82D4-AAC12AFC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MMTM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9C3B9-FCD7-4109-8EC9-A66404AD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D558D-021D-4096-BF86-9FB07978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370959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9BAA5-2F6B-4AE7-AD2A-03F734F6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528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E9497-3C72-4791-B06E-10BBBC71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交叉注意力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97BB2-50EE-49CF-B2C0-209B54DC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43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1927C2-4436-4E03-8631-37EEEE7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43375"/>
            <a:ext cx="37388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CBD38F-3C7A-448C-940D-D398A909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86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41F15-9DAC-4384-B7D2-0B0660E9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525125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12452D-69B1-4905-B699-E0CB98F8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BD5B3B-012A-4736-8BCC-23F874C3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966787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Radon点估计最高，但同时区间跨零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84837-D1D1-40D3-8D6B-336ADA82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46700"/>
            <a:ext cx="10525125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17BC86-6DD2-44A4-B212-3BB0CD32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56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368F30-4726-466E-AC1D-D73CF516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89575"/>
            <a:ext cx="966787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无通信/自身处理/MMTM选回第0轮父模型，不是没跑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4DE799-39DB-4286-A55B-1F3DA889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35650"/>
            <a:ext cx="10525125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5E37EB-6F39-4207-B90A-CE7E3BCC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4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954562-B327-4C12-A487-C1616F0F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78525"/>
            <a:ext cx="966787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这是单种子小队列，不是最终稳定排名</a:t>
            </a:r>
          </a:p>
        </p:txBody>
      </p:sp>
    </p:spTree>
    <p:extLst>
      <p:ext uri="{BB962C8B-B14F-4D97-AF65-F5344CB8AC3E}">
        <p14:creationId xmlns:p14="http://schemas.microsoft.com/office/powerpoint/2010/main" val="18958886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46BD8D-FD37-41D3-A546-17B415F8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通道压缩：SVD、QR、可学习通道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7D082-0AD0-4A36-B63E-1BB0CA9A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R&amp;B机制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42FC5-1D7C-4B2D-98AE-E34DB780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19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4FC27-9CD9-4F27-87FA-2BD616FD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E3695-80A0-4B4B-BBE4-2F80C617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回答“是不是只因为SVD压缩方式特殊”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2B76F-8BA5-4469-B0CE-DFEFFB23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SVD Radon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D3661-CD6A-4D50-904D-1BEAE389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58ED7-87FC-44AD-A0AB-E67B14A1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403441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50325-7BBF-407C-9B45-4353712C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19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71.8%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C198D-6704-496A-8941-1BC3CAF7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QR Radon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66A30-DDC1-4C64-B19D-BD2DFCA6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271E5-6287-42BD-9684-E820883A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394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1FD03-BCDE-485F-9E98-E5D79346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70.2%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9C4C9-9BFC-489F-8F7E-5F044D24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Learned Radon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510DA-CBDB-4A45-9472-8700983F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17A81-5C19-452E-8F85-1FE1577F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391022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23DA7-7BF1-49DB-8B4B-1BED1D31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86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69.6%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5A2BA-FE21-4E64-BD88-4BBC56D0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SVD Comm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81F62-58EF-49A3-91CE-A6E352BD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FAB9D-4FAD-4413-A5FB-1B3CC732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379501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41441-DA1E-48C6-B7D6-AF012BD5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194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67.5%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EFA5D-E4FD-404D-A21E-B17CCC21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QR Comm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4D51D5-16FD-4B2B-8B8F-F756339D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971C4-76DB-4783-BD55-7FCDCC0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370959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7F999-DE5C-4E9C-A0AB-BCD779D3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528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82D41B-AB6B-4366-A9CF-55E56EC4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Learned Comm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8F08D-8A03-4ABC-A81C-262D36C6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43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983B66-B369-4F88-BD1B-14B4331C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43375"/>
            <a:ext cx="370959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42EE9-333C-4FA3-A9F2-342F45A1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86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E93950-FF65-4B62-8E6C-6DB00127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525125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F1A23-377F-448C-8346-38958710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213A80-4F4B-4631-8CB9-5C05D60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966787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三种压缩都保留Radon正向点估计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4E89C-C4CA-49A4-B2AC-11DA3901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46700"/>
            <a:ext cx="10525125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25CC0F-599C-4E59-994B-FA796F63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56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D3F9A8-C026-4C28-B217-5BE43E1B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89575"/>
            <a:ext cx="966787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七项同时区间均跨零，不能宣布稳定赢家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615623-5752-4C43-8306-A134D11B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35650"/>
            <a:ext cx="10525125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662C44-9979-4E78-9866-AEE51A99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4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7F3F32-A514-4A91-9138-F37B3A27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78525"/>
            <a:ext cx="9667875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这是机制探索，不是论文主结论</a:t>
            </a:r>
          </a:p>
        </p:txBody>
      </p:sp>
    </p:spTree>
    <p:extLst>
      <p:ext uri="{BB962C8B-B14F-4D97-AF65-F5344CB8AC3E}">
        <p14:creationId xmlns:p14="http://schemas.microsoft.com/office/powerpoint/2010/main" val="12451374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01E0E9-029A-43C3-BB09-F595028F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分组通信：2/4/8/16都补齐了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6EF67-E1D1-441B-BCAC-42A16CF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R&amp;B分组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6E343-804E-4037-9FE2-D1049A5D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20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916FD-9F33-4302-80C5-1C80BEFC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A7631-F3D2-490C-B7E1-BC25C78D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分组减少直接通信连接，也减少参数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2F026-61FD-4B1F-8B7A-FBBF3F2F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不分组Δ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84FC-29A3-4865-A92C-9CEC07E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BC1EA-C638-4406-9216-52F75B17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239401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32D96-6206-4667-A40D-E6D4879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19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4.26%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04A9F-DEF8-4D68-83CA-7E8AAA8E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G2 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E1FBB-742D-4992-BBB3-6680ECD0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82CF6-B24B-4A17-BBFA-B1315D1B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9500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98D25-9A7F-4348-9BD4-0264FC04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3.47%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BC098-B4F3-47D4-9CA6-E6A124A9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G4 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9F4F5-BB41-4D8F-B152-C6E9AB2D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EB355-7C84-4FAC-AE31-6C86F1E0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14948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EEC3E-1677-407E-8D53-CD96FF8E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86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2.66%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B5398-3322-4D9F-A924-CA0DF52F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G8 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123E9-0E30-4FC4-8CDE-393A5551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A1566-F090-429C-A4CB-C27C181F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1DF824-6C61-49F0-8FB6-2C9B1232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194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0.29%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809B6-E4C6-4AB7-BC33-C4656A24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G16 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56ED1-9F92-4CDC-B440-766E6B0F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7BCF2-C686-4C70-9C61-B3404E23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0997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CCBED-CFDC-4C19-9817-F76FDD6C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528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0.19%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46EE0-69B9-4290-ADB3-DEAF9620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525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58EE79-29EA-4C31-8B30-A13D997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6C247-E6E8-45DB-BFF7-78752A92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67225"/>
            <a:ext cx="966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8项新实验：Radon与普通通信各4个group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8A005-6C7C-4850-A1D7-9DC89059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0525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4B0B9F-90A3-4993-A9DA-ECA77C7D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00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B054D-0C38-4CDB-B893-41D66555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3975"/>
            <a:ext cx="966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同组数Radon-普通点差为正，但五项同时区间全跨零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21D92B-8EED-4DF5-AF13-14023C0E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525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FDB398-50DB-44C7-807B-8D47C45F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67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D66D06-A630-4208-A9E9-92EE5AD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00725"/>
            <a:ext cx="966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不能把趋势直接归因于连接密度</a:t>
            </a:r>
          </a:p>
        </p:txBody>
      </p:sp>
    </p:spTree>
    <p:extLst>
      <p:ext uri="{BB962C8B-B14F-4D97-AF65-F5344CB8AC3E}">
        <p14:creationId xmlns:p14="http://schemas.microsoft.com/office/powerpoint/2010/main" val="13798696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6289FA-02A4-48BC-B598-6B0C6887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中心化SVD：最强点估计也有反例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B804F-3FBA-447A-9A8F-06FBA954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R&amp;B中心化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6B695-1BC5-4B94-A017-F74D2137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21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690CC-3A01-43EF-9815-04BBF04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25838-DB85-4487-8C87-8E67512E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中心化只改确定压缩方向的训练统计，运行时不减均值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92838-C609-4DBE-9E8F-68A36BD7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未中心化Radon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1D983-3CB5-4AB5-B201-31EC756E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79275-9B0E-4C71-B688-5F7E4806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4034419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2947-A32D-4339-AFC9-505C8245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19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71.8%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00455-B7F7-463B-9994-A39E0ED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中心化Radon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5F288-87D3-49D0-AFFC-DD4D674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F147E-FBDE-466D-B4A7-44689D12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415636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E803E-08D6-46DE-8F3C-ACE33ED9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74.0%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3FE16-74F6-4AA1-91A6-B1EC10FF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普通通信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9E537-9E26-4086-BA3C-F0AFCE3E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113A9-94DB-42EF-B4BF-22F4BB71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379501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A8B65-8470-45BB-866A-B156FE6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86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67.5%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B4F33-2FB8-408F-93A2-C7BD34D2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中心化普通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23A07-2EF9-4DE5-B287-0BB07ACB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03A9E-1C79-4F47-9D5F-95D36CB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370959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4EAF4-ED00-4762-9AA8-F143820A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194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40643-AB61-4911-9D1D-2592EE0D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0525125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EDAEC-5D73-4E38-80C5-EB54AC7A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13BC0-CCC0-45FF-AFE6-87625742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33825"/>
            <a:ext cx="9667875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同为中心化时Radon比普通高7.95pp，区间[+2.90,+12.99]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061A5-FC35-4DC5-A632-A69D85E3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35500"/>
            <a:ext cx="10525125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5DDFF-7F20-4F5B-B54B-5C52BB09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5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B8884-23D1-48DB-88B7-AD0549ED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78375"/>
            <a:ext cx="9667875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但中心化Radon两个分支概率损失变差，AUROC也下降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18753-3D10-4CEE-855D-F5863D15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0050"/>
            <a:ext cx="10525125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C1BEA-C52E-4FCD-A08C-9BB85BA4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8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EC397B-F868-4BEF-B8BB-596A6806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22925"/>
            <a:ext cx="9667875" cy="52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所以不能只用F1说“更好”</a:t>
            </a:r>
          </a:p>
        </p:txBody>
      </p:sp>
    </p:spTree>
    <p:extLst>
      <p:ext uri="{BB962C8B-B14F-4D97-AF65-F5344CB8AC3E}">
        <p14:creationId xmlns:p14="http://schemas.microsoft.com/office/powerpoint/2010/main" val="8474724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F1EE2A-5C3C-497B-9F36-C7E9B752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已有方法A再加桥：MMTM宿主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FF65D-F953-4D9B-A2C9-9E0A651F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R&amp;B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8F26C-176D-41E8-AB7C-20778295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22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C7CF6-F2B4-42F0-887D-4F772C8E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5FD89-18D3-4E1B-A233-9BF508D8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这才回答R&amp;B的“A + bridge”问题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A2017-3A6D-4651-95C7-D31D0EF5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MMTM继续训练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2C5B1-8609-4ABF-9F58-008490E3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C1F1B-4B60-4027-A6E7-7A8F2DC6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370959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02124-70FD-475F-A566-47EEEB71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192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D4564-8B86-4BAF-9DCA-D14C958A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MMTM+Radon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0C2C8-B8B3-42B2-9244-37B2F3E0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01282-03A4-4E23-BB43-0BE7EACE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398215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B7745-23B6-45E4-B8D4-606232BF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70.9%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16434-4501-4531-8C69-0881E924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50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MMTM+普通通信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C7F6A-804B-45F0-9808-4D4841D4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51B20-2985-453C-B7B6-84088EC1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373039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8112D-ED4E-4804-A728-1B8443DD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860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66.4%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8C9C5-D057-4378-95BF-5307E317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0525125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3E13A-3B75-48DC-8B90-512C36AB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28426-0279-4EEB-AD59-DF69B450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0425"/>
            <a:ext cx="9667875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三项自动顺序完成，296人预测重核通过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4A1CD-73D1-4E76-A06B-63D88ACE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9900"/>
            <a:ext cx="10525125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2EFCC-B557-4071-8B77-AF2817A8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89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5231A-D022-45C7-B0BC-5DF0820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22775"/>
            <a:ext cx="9667875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Radon有正向信号，但多项同时区间跨零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8411D-F845-4A28-926C-CC8E1CDD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2250"/>
            <a:ext cx="10525125" cy="88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9EAA3-7239-4887-AB47-FB377C4A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11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EEA481-FDF7-49F3-A2D4-90B1D665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45125"/>
            <a:ext cx="9667875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宿主选中第一阶段第0轮，是适用范围限制</a:t>
            </a:r>
          </a:p>
        </p:txBody>
      </p:sp>
    </p:spTree>
    <p:extLst>
      <p:ext uri="{BB962C8B-B14F-4D97-AF65-F5344CB8AC3E}">
        <p14:creationId xmlns:p14="http://schemas.microsoft.com/office/powerpoint/2010/main" val="6537084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FBB05-EBDC-4125-9AB9-6957BE14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CMX / CMX-FRM：有数值，但不能扩大解释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7CC45-E5BB-4A29-BF38-D346F3FD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R&amp;B CMX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1EDA4-3AE3-44C4-BA38-C2A73DA7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23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FDEF2-74DC-415D-BA05-C09E36A7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DD7E3-2843-4956-A96E-08F54C48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CMX-FRM-init三臂完成；CMX-full保留identity入口限制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97532-D7FA-42F1-AA3A-61089A01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CCF61-F725-4CF2-A6BC-2AD17FDD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CC336-8666-4637-B6DE-52E3F03B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CMX-FRM-init同A三臂3/3完成并右侧独审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AF41A-A029-40BC-8ADD-1AC18328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224B4-8258-4915-A2D6-7B59D846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76DDD-3BAE-4F9B-A27E-1875E746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CMX-full只接受selected-best0 identity入口下的matched原数值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073AB-772F-411E-B9C8-9542ED71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192D1-F6E0-4973-8DAB-90D44A42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652C7-7995-4E59-BD1A-DED6D311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amax ties子梯度不等作者maxpool；不能写成完整非退化CMX成功</a:t>
            </a:r>
          </a:p>
        </p:txBody>
      </p:sp>
    </p:spTree>
    <p:extLst>
      <p:ext uri="{BB962C8B-B14F-4D97-AF65-F5344CB8AC3E}">
        <p14:creationId xmlns:p14="http://schemas.microsoft.com/office/powerpoint/2010/main" val="18473113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7BEA9-4E03-4514-BD3D-6C197016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32层3D父模型与Ibex状态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9852C-5C41-4396-9C52-A8D4A5C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R&amp;B大队列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132C8-50A2-4C89-9517-FB454F35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24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0DF93-AFBE-4F16-A2D4-46AB0A7F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BD0EF-B88F-482A-AA73-E767B9F1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训练链路贯通，但还不是六臂完成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31B71-42CE-4A57-867E-219F44B5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FC2E6-0E05-4466-9578-45A73C81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F3955-140B-49CF-996D-51453B5D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32×224×224 OCT父模型完成数据读取、开发集与下一更新恢复预检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B42B7-D48E-4B45-A7BE-14EE291C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4B887-8F19-4531-B732-8C946A6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11D54-B4F9-4285-A726-AD304B0E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从93→147→1453→8734更新持续推进；断点新鲜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3E2B2-0708-4B37-9616-8D74012A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4E6CA-B9ED-4491-9088-61DBACD7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8799C-061D-43C3-9378-3FF4221E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allocation数量不是完成实验数；旧128层Dense3D仍暂停</a:t>
            </a:r>
          </a:p>
        </p:txBody>
      </p:sp>
    </p:spTree>
    <p:extLst>
      <p:ext uri="{BB962C8B-B14F-4D97-AF65-F5344CB8AC3E}">
        <p14:creationId xmlns:p14="http://schemas.microsoft.com/office/powerpoint/2010/main" val="19175105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E02B8-F85E-488F-810B-184B8314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概率反例：F1与置信度不是一回事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FA248-2408-4847-8AAB-EEF00183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2C7D7-481C-45F0-B6D8-D50B6378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25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EF4C7-DD6A-40D3-A534-BBAC9FEF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3147F-6343-405E-80FA-587D393C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多页结果都显示F1上升可能伴随NLL/Brier/AUROC变差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26CE4-B0DE-4632-B704-6125F86D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7C95F-10AA-434C-A707-212E9A7B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AD7BB-0B0D-420E-9065-BD045385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F1：分类对错的平衡指标；不是概率质量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4960C-F136-4CDE-9FB6-21E38115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1D71A-DF0A-4BA0-ADA8-9FAA38B4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8FB38-A886-47CA-8E8D-4C2DFCA8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NLL/Brier：看模型对真实答案有多自信、多校准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3E020-7D01-442D-9A35-5A1ADA42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4329F-82EC-4B25-8F21-52873E1A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75EBCD-45BB-4844-A4C6-80749F1E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汇报必须说：即使F1提高，剩余错误更自信也可能让概率损失变差</a:t>
            </a:r>
          </a:p>
        </p:txBody>
      </p:sp>
    </p:spTree>
    <p:extLst>
      <p:ext uri="{BB962C8B-B14F-4D97-AF65-F5344CB8AC3E}">
        <p14:creationId xmlns:p14="http://schemas.microsoft.com/office/powerpoint/2010/main" val="20727433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34101-D1ED-4571-AE1C-A29D1257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工程与验收也是本周工作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74055-B65A-48E2-8720-8019E2F5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DA40C-6AB5-4684-892F-D2CB09E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26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6EE19-EE8B-48B1-8118-BC8EA672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F7620-E925-4666-AAB4-C83A3D93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没有这些，结果不能交付或不能信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6DDF4-A523-4093-B05D-98F58D52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31013-0E7F-4601-BFE7-88F77CC7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D2017-E7EF-4C38-884F-E992ECB7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状态字段严格校验拒收后修复，不放宽合同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91EA7-1F13-40E1-A396-176FEA8E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379E7-9721-42AA-8586-6C7005B5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46248-D4E3-466E-AE25-08EF4793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磁盘不足迁移到授权存储并校验恢复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E1543-F75A-42F5-9E92-426DFACF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336AA-11DE-4AB7-9141-65316EEE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6F343-F4DA-47E5-8CFC-AF66ADB8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fit/resume/source/visual QA多轮修复，最终形成无嵌套ZIP与原生PDF/PNG</a:t>
            </a:r>
          </a:p>
        </p:txBody>
      </p:sp>
    </p:spTree>
    <p:extLst>
      <p:ext uri="{BB962C8B-B14F-4D97-AF65-F5344CB8AC3E}">
        <p14:creationId xmlns:p14="http://schemas.microsoft.com/office/powerpoint/2010/main" val="18762551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B2CA0-8832-4A79-A2EF-08BD760B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解释纠错：MMTM不是LOOK主A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AFA4B-EC95-4C61-BBDB-2D3CA9C9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纠错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3FF37-496F-4101-9D1E-AC0B510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27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29D39-ED65-4EB3-AC60-E4F900E6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79678-64AB-4C67-BCA0-7B371D29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用户指出后已撤回错误完成表述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2AE45-98A7-4C0B-A137-B2B958AE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0DD05-6749-4040-81A8-F4709ACB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F9F4E-5957-4E6A-AC0D-6FFFACD6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LOOK主问题应是GAN伪模态/缺失鲁棒/EmbraceNet/IMD等缺失方法A + LOOK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269D4-E171-4CBC-89DF-FFE527FD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DEC47-11A6-4EAF-9462-96BBADE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7714F-7C88-4E9C-965D-941FB022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MMTM和融合位置保留为宿主兼容性与组装机制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05A7A-6F10-4EBA-8583-C41B31F0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9DD7C-E4FA-473C-B565-9E8C836B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07974-FF8A-4157-AF51-4324703E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R&amp;B的A对应已有通信模块 + bridge，如MMTM+Radon、CMX-FRM</a:t>
            </a:r>
          </a:p>
        </p:txBody>
      </p:sp>
    </p:spTree>
    <p:extLst>
      <p:ext uri="{BB962C8B-B14F-4D97-AF65-F5344CB8AC3E}">
        <p14:creationId xmlns:p14="http://schemas.microsoft.com/office/powerpoint/2010/main" val="1531471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CCFC7E-7058-4276-9266-506522C1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accepted / pending矩阵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983E2-8D49-476C-905C-DD8593CB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31AC3-090A-4B1E-9F17-D55C1DF0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28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C398F-7FED-4771-A736-9ACF5641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30B21-C9B3-476E-9548-854D1F8B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讲结果时要把“已接受”和“未完成/有限接受”分开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35C3F-AE9C-4060-803B-CF7F57D3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9CA1A-D9DA-4FFC-8135-FAFB3ED4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66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6BBF8-A4DD-42F8-85F5-57851A6B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668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500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00A03-9638-481D-8727-509DBAAB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11F70-585B-4B2D-9BD9-EFEEAF2E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LOOK positive tree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1BDBE-3C83-4505-B83D-AD9538B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04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57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E8B57"/>
                </a:solidFill>
                <a:latin typeface="STHeiti"/>
                <a:ea typeface="STHeiti"/>
                <a:cs typeface="STHeiti"/>
              </a:rPr>
              <a:t>接受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1A1BC-E806-41D8-B75F-303DC154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单种子/dev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7CCD5-3FC4-472C-84B9-CF276F6B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63ACD-9B3A-42A8-BDF9-D667DED8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72 fixed-mean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4D0DB-2429-4AAB-8982-27771DAA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38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57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E8B57"/>
                </a:solidFill>
                <a:latin typeface="STHeiti"/>
                <a:ea typeface="STHeiti"/>
                <a:cs typeface="STHeiti"/>
              </a:rPr>
              <a:t>接受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49C3A-EE72-4873-895D-90B5A759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383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条件相关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0CCFF-E14F-406C-AE51-63739B7B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9AAA0-B11A-4F27-8C8F-1F9D483C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Ibex free-mean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EC9A8-57D9-4CB5-9180-46A3A1B8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57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E8B57"/>
                </a:solidFill>
                <a:latin typeface="STHeiti"/>
                <a:ea typeface="STHeiti"/>
                <a:cs typeface="STHeiti"/>
              </a:rPr>
              <a:t>接受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C50EA-40A9-42DD-9304-2E3B1C76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无test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DE60C-85E1-4C25-B39D-5FF45317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9B437-49AE-4E6E-B638-5A13D53F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EmbraceNet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6714B-6DA5-46C2-A40E-EA210AEA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7A21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C47A21"/>
                </a:solidFill>
                <a:latin typeface="STHeiti"/>
                <a:ea typeface="STHeiti"/>
                <a:cs typeface="STHeiti"/>
              </a:rPr>
              <a:t>合同/工程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BD1FE-F1D0-4AD0-9C9D-D653ED60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待训练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74FFC-C3F6-40EE-9DE4-F5E61C9D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8A810-B18D-4538-AC59-708C8F6C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IMD组件A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FDF0AF-2B4F-4D3B-B24B-5031541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38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7A21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C47A21"/>
                </a:solidFill>
                <a:latin typeface="STHeiti"/>
                <a:ea typeface="STHeiti"/>
                <a:cs typeface="STHeiti"/>
              </a:rPr>
              <a:t>右审完成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98309-717B-488D-8E79-BF331E4E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完整IMD未接受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31E5F2-FAB1-483C-AE80-63DAD2DA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9EDBA7-4751-4A7B-93F3-8E187689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R&amp;B六臂/分组/中心化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E1E85-17CF-4F2C-912B-CE511E0F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57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E8B57"/>
                </a:solidFill>
                <a:latin typeface="STHeiti"/>
                <a:ea typeface="STHeiti"/>
                <a:cs typeface="STHeiti"/>
              </a:rPr>
              <a:t>接受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C8F3CC-8F37-4AE1-812C-2D2F12B8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区间常跨零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A088F3-F745-467E-8088-45416E09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D7DC19-B588-4F3B-95D9-B5746EA1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CMX-full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8E1579-B186-48EB-A0D2-02FAAEFD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05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8B57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E8B57"/>
                </a:solidFill>
                <a:latin typeface="STHeiti"/>
                <a:ea typeface="STHeiti"/>
                <a:cs typeface="STHeiti"/>
              </a:rPr>
              <a:t>限定接受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3855ED-5FAF-4211-A483-BBAF26A2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053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identity入口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F8CE9D-95B8-4FD7-9195-01A3DC4A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66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28B1F9-C9FA-4228-AD07-8E6B48B7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32层3D父模型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119B81-1CED-495B-9AF1-5F6AFF6C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387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47A21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C47A21"/>
                </a:solidFill>
                <a:latin typeface="STHeiti"/>
                <a:ea typeface="STHeiti"/>
                <a:cs typeface="STHeiti"/>
              </a:rPr>
              <a:t>训练推进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6974F8-5B0F-453B-9C3D-8AE34008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38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六臂未完成</a:t>
            </a:r>
          </a:p>
        </p:txBody>
      </p:sp>
    </p:spTree>
    <p:extLst>
      <p:ext uri="{BB962C8B-B14F-4D97-AF65-F5344CB8AC3E}">
        <p14:creationId xmlns:p14="http://schemas.microsoft.com/office/powerpoint/2010/main" val="15280799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11582-442B-485F-900E-5EC142A0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老师问题怎么回答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EDA3E-6FFB-4AF0-83B0-674B1AA5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259A8-3209-4381-82F8-11EA57EC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29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92062-2DB6-4420-9E4C-BB82BE40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CDAB8-82D9-4A67-BDBB-EE47809F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先说问题，再说覆盖，再说缺口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13D12-0835-43E9-BE57-4EFDEEE7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836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FE5E5-2EF5-4D8F-AD45-6DD9FA27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43864-7E65-4C29-AA37-7E514A60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64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Q1 小队列来源：1264 train / 296 dev / 290 test；test封存，不编流失数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B81F0-85B8-4329-83A8-01C58ACB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6020"/>
            <a:ext cx="10525125" cy="836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838C7-4843-4A29-BEB9-B49E77BD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5557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0F81D-8E30-463A-8924-C9FB6222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88895"/>
            <a:ext cx="9667875" cy="64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Q2 已有方法+A：LOOK现在有EmbraceNet/IMD组件路线，R&amp;B有MMTM/CMX路线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1D176-B8F8-4D12-9FB8-88E9F7E7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5665"/>
            <a:ext cx="10525125" cy="836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19DAC-43B6-4AF0-A354-290DF674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521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E8DCE-CAEF-4390-9BDE-D89F389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58540"/>
            <a:ext cx="9667875" cy="64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Q3 跨器官：脑MRI、ECG+cine MRI是方向，还没有成套许可/资产/基线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10BF8-4874-4753-A6B6-472804E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5310"/>
            <a:ext cx="10525125" cy="836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7ADDC-0B74-42D8-BEFE-8CDB5CAC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486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E584B-EB18-402C-B584-724F881E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28185"/>
            <a:ext cx="9667875" cy="64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Q4 外部证据组织：参考MOME的内部→外院→读者/下游层级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D5DD3-5F48-4B1A-9DCB-07648CC0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4955"/>
            <a:ext cx="10525125" cy="8362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B70D8-26D5-4D6E-9CBB-C595EB21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450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72F95-97B4-4366-9AF6-4B2AF98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97830"/>
            <a:ext cx="9667875" cy="64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Q5 不能说：跨种子、独立测试、外部泛化已证明</a:t>
            </a:r>
          </a:p>
        </p:txBody>
      </p:sp>
    </p:spTree>
    <p:extLst>
      <p:ext uri="{BB962C8B-B14F-4D97-AF65-F5344CB8AC3E}">
        <p14:creationId xmlns:p14="http://schemas.microsoft.com/office/powerpoint/2010/main" val="14383219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4091B-F25F-41BB-8060-A8CF86DF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一页总结：上周不是“一个结果”，而是一套证据链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EAA40-799D-47E7-AAEE-445BDB6B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6779A-67CD-467B-BA16-46A63D91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30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03285-0FA4-4331-AF5C-8B039CE0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1C052-23EB-4C21-A1EB-AE735B4A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重点是范围完整、证据有界、下一步明确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DD9CB-1CAA-47CA-A9FC-154D381E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638EA-1D58-47AA-B909-D8554B59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D38E9-B340-4327-9088-00655D63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LOOK：从搜索策略到缺失方法A，已有代表性正信号和概率反例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DB5E2-8D25-496B-88AC-AC52D32C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6D247-EB39-47DC-8F4B-9678C11B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FEF80-A61F-43B8-8A28-CFFD977D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R&amp;B：从小队列六臂到机制拆分，再到大队列父模型推进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82E31-BDC0-4400-A97C-46F9855D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FA861-1B45-4CAB-AE89-DBC6A3E3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39057-9CEA-49B6-BFF9-4FA87B5E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交付：从20页初稿到从零解释版，再到图解/完整周报版；旧科学边界不变</a:t>
            </a:r>
          </a:p>
        </p:txBody>
      </p:sp>
    </p:spTree>
    <p:extLst>
      <p:ext uri="{BB962C8B-B14F-4D97-AF65-F5344CB8AC3E}">
        <p14:creationId xmlns:p14="http://schemas.microsoft.com/office/powerpoint/2010/main" val="13799482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F894D-6C4E-4096-A705-AA8C83B0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24D"/>
                </a:solidFill>
                <a:latin typeface="STHeiti"/>
                <a:ea typeface="STHeiti"/>
                <a:cs typeface="STHeiti"/>
              </a:defRPr>
            </a:pPr>
            <a:r>
              <a:rPr sz="3000" b="1">
                <a:solidFill>
                  <a:srgbClr val="17324D"/>
                </a:solidFill>
                <a:latin typeface="STHeiti"/>
                <a:ea typeface="STHeiti"/>
                <a:cs typeface="STHeiti"/>
              </a:rPr>
              <a:t>下一步：不再补同类漂亮图，补真正缺口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A74CA-A93D-4DEE-A615-475F81B6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C8E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286C8E"/>
                </a:solidFill>
                <a:latin typeface="STHeiti"/>
                <a:ea typeface="STHeiti"/>
                <a:cs typeface="STHeit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C817C-7181-4533-AD73-56C63D41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86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31 / 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99359-0080-4707-B91F-7FE571B0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34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solidFill>
              <a:srgbClr val="286C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560E0-888A-4EF0-9B87-4BC73381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38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0"/>
                </a:solidFill>
                <a:latin typeface="STHeiti"/>
                <a:ea typeface="STHeiti"/>
                <a:cs typeface="STHeiti"/>
              </a:defRPr>
            </a:pPr>
            <a:r>
              <a:rPr sz="1575" b="0">
                <a:solidFill>
                  <a:srgbClr val="607080"/>
                </a:solidFill>
                <a:latin typeface="STHeiti"/>
                <a:ea typeface="STHeiti"/>
                <a:cs typeface="STHeiti"/>
              </a:rPr>
              <a:t>把老师问题对应的缺口转成有限任务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59370-8F13-4AC2-A625-AB4DF7ED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82C27-0D40-425F-B9B2-6D6A6608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85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FE5D4-4940-4128-AEFF-7BE5A0B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192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LOOK：EmbraceNet/IMD完整A + LOOK，独立测试前不扩大结论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A2814-A423-4DBD-A7D2-C078D89D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8A3BE-294B-4548-913D-41D6DACE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1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1B7291-D24C-4638-8A9A-7394642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R&amp;B：32层大队列父模型完成后做同父六臂，不拿小队列替代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2AC8E-D993-4129-9614-5BA101FA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10525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6F6BF-DBD4-4DAA-9C1E-136558C6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C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973B0-BB36-476A-BD54-140B9D42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966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142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243142"/>
                </a:solidFill>
                <a:latin typeface="STHeiti"/>
                <a:ea typeface="STHeiti"/>
                <a:cs typeface="STHeiti"/>
              </a:rPr>
              <a:t>报告：主讲用图解，附录给完整矩阵和来源，避免漏positive tree这类关键工作</a:t>
            </a:r>
          </a:p>
        </p:txBody>
      </p:sp>
    </p:spTree>
    <p:extLst>
      <p:ext uri="{BB962C8B-B14F-4D97-AF65-F5344CB8AC3E}">
        <p14:creationId xmlns:p14="http://schemas.microsoft.com/office/powerpoint/2010/main" val="1519225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2026-09-20T07:18:37.3090000Z</dcterms:created>
  <dcterms:modified xsi:type="dcterms:W3CDTF">2026-09-20T07:18:37.3090000Z</dcterms:modified>
</coreProperties>
</file>